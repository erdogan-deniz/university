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84" r:id="rId1"/>
  </p:sldMasterIdLst>
  <p:notesMasterIdLst>
    <p:notesMasterId r:id="rId33"/>
  </p:notesMasterIdLst>
  <p:sldIdLst>
    <p:sldId id="394" r:id="rId2"/>
    <p:sldId id="398" r:id="rId3"/>
    <p:sldId id="406" r:id="rId4"/>
    <p:sldId id="327" r:id="rId5"/>
    <p:sldId id="407" r:id="rId6"/>
    <p:sldId id="399" r:id="rId7"/>
    <p:sldId id="328" r:id="rId8"/>
    <p:sldId id="400" r:id="rId9"/>
    <p:sldId id="360" r:id="rId10"/>
    <p:sldId id="404" r:id="rId11"/>
    <p:sldId id="401" r:id="rId12"/>
    <p:sldId id="402" r:id="rId13"/>
    <p:sldId id="403" r:id="rId14"/>
    <p:sldId id="408" r:id="rId15"/>
    <p:sldId id="405" r:id="rId16"/>
    <p:sldId id="334" r:id="rId17"/>
    <p:sldId id="416" r:id="rId18"/>
    <p:sldId id="409" r:id="rId19"/>
    <p:sldId id="413" r:id="rId20"/>
    <p:sldId id="436" r:id="rId21"/>
    <p:sldId id="417" r:id="rId22"/>
    <p:sldId id="419" r:id="rId23"/>
    <p:sldId id="411" r:id="rId24"/>
    <p:sldId id="414" r:id="rId25"/>
    <p:sldId id="415" r:id="rId26"/>
    <p:sldId id="412" r:id="rId27"/>
    <p:sldId id="446" r:id="rId28"/>
    <p:sldId id="445" r:id="rId29"/>
    <p:sldId id="448" r:id="rId30"/>
    <p:sldId id="449" r:id="rId31"/>
    <p:sldId id="450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2" autoAdjust="0"/>
    <p:restoredTop sz="92652" autoAdjust="0"/>
  </p:normalViewPr>
  <p:slideViewPr>
    <p:cSldViewPr>
      <p:cViewPr>
        <p:scale>
          <a:sx n="60" d="100"/>
          <a:sy n="60" d="100"/>
        </p:scale>
        <p:origin x="-798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A4ACB-B1F8-4EFC-B2A8-5D9AD9CEFA58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C3997-9CD0-4FE9-B276-B6ECAB1B1B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2216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1%D0%BE%D1%86%D0%B8%D0%B0%D0%BB%D1%8C%D0%BD%D1%8B%D0%B9_%D0%BA%D0%BB%D0%B0%D1%81%D1%8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%D0%A6%D0%B8%D0%B2%D0%B8%D0%BB%D0%B8%D0%B7%D0%B0%D1%86%D0%B8%D1%8F" TargetMode="External"/><Relationship Id="rId4" Type="http://schemas.openxmlformats.org/officeDocument/2006/relationships/hyperlink" Target="https://ru.wikipedia.org/wiki/%D0%92%D0%B0%D1%80%D0%B2%D0%B0%D1%80%D1%81%D1%82%D0%B2%D0%BE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yandex.ru/clck/jsredir?from=yandex.ru;images/search;images;;&amp;text=&amp;etext=1132.9wDnrKfQ8lvifaLt7FUQvN53TUwqh1dklpSePV4u7V7EIht_z8R_enUmXqH64YJNWb3lvp_srZMwdLyCtNM-ruiS5GbndENi6Yx6N2IkoUKevxHPge3LOHfjgcBqTkeF.25a86cd714281a9943aad531c5f95cabf15a01d5&amp;uuid=&amp;state=tid_Wvm4RM28ca_MiO4Ne9osTPtpHS9wicjEF5X7fRziVPIHCd9FyQ&amp;data=UlNrNmk5WktYejR0eWJFYk1LdmtxcE9QYjJpamdOT2c4cXBRNzhKeW9Gb3JuNklzcDdfZDBuNVQ1M2c1YnA4YnJTSWJYZHVaQ2tfU2VxZWNfb0ZGVFdNY01GU19NdUxrejhaSDFGa1YyMkt1QW9aU3NYZDlnQ3A5ZWV4ekdTc29SZkJ0UWV4dS0yUE5rcWxrU2JubUtBMmFmdmFqYUZ4SQ&amp;b64e=2&amp;sign=c581bc964e33378901843e24b49ce752&amp;keyno=0&amp;l10n=ru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2%D0%B5%D1%80%D1%80%D0%B0%D0%BA%D0%BE%D1%82%D0%B0" TargetMode="External"/><Relationship Id="rId13" Type="http://schemas.openxmlformats.org/officeDocument/2006/relationships/hyperlink" Target="https://ru.wikipedia.org/wiki/%D0%A1%D1%8B%D0%BC%D0%B0_%D0%A6%D1%8F%D0%BD%D1%8C" TargetMode="External"/><Relationship Id="rId3" Type="http://schemas.openxmlformats.org/officeDocument/2006/relationships/hyperlink" Target="https://ru.wikipedia.org/wiki/%D0%9A%D0%B8%D1%82%D0%B0%D0%B9%D1%81%D0%BA%D0%B8%D0%B9_%D1%8F%D0%B7%D1%8B%D0%BA" TargetMode="External"/><Relationship Id="rId7" Type="http://schemas.openxmlformats.org/officeDocument/2006/relationships/hyperlink" Target="https://ru.wikipedia.org/wiki/%D0%A2%D1%80%D0%B0%D0%BD%D1%81%D0%BA%D1%80%D0%B8%D0%BF%D1%86%D0%B8%D0%BE%D0%BD%D0%BD%D0%B0%D1%8F_%D1%81%D0%B8%D1%81%D1%82%D0%B5%D0%BC%D0%B0_%D0%9F%D0%B0%D0%BB%D0%BB%D0%B0%D0%B4%D0%B8%D1%8F" TargetMode="External"/><Relationship Id="rId12" Type="http://schemas.openxmlformats.org/officeDocument/2006/relationships/hyperlink" Target="https://ru.wikipedia.org/wiki/%D0%92%D0%B5%D0%BB%D0%B8%D0%BA%D0%B0%D1%8F_%D0%9A%D0%B8%D1%82%D0%B0%D0%B9%D1%81%D0%BA%D0%B0%D1%8F_%D1%81%D1%82%D0%B5%D0%BD%D0%B0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F%D0%B8%D0%BD%D1%8C%D0%B8%D0%BD%D1%8C" TargetMode="External"/><Relationship Id="rId11" Type="http://schemas.openxmlformats.org/officeDocument/2006/relationships/hyperlink" Target="https://ru.wikipedia.org/wiki/%D0%94%D0%B8%D0%BD%D0%B0%D1%81%D1%82%D0%B8%D1%8F_%D0%A6%D0%B8%D0%BD%D1%8C" TargetMode="External"/><Relationship Id="rId5" Type="http://schemas.openxmlformats.org/officeDocument/2006/relationships/hyperlink" Target="https://ru.wikipedia.org/wiki/%D0%A3%D0%BF%D1%80%D0%BE%D1%89%D0%B5%D0%BD%D0%B8%D0%B5_%D0%B8%D0%B5%D1%80%D0%BE%D0%B3%D0%BB%D0%B8%D1%84%D0%BE%D0%B2" TargetMode="External"/><Relationship Id="rId10" Type="http://schemas.openxmlformats.org/officeDocument/2006/relationships/hyperlink" Target="https://ru.wikipedia.org/wiki/%D0%A1%D0%B8%D0%B0%D0%BD%D1%8C" TargetMode="External"/><Relationship Id="rId4" Type="http://schemas.openxmlformats.org/officeDocument/2006/relationships/hyperlink" Target="https://ru.wikipedia.org/wiki/%D0%9A%D0%B8%D1%82%D0%B0%D0%B9%D1%81%D0%BA%D0%BE%D0%B5_%D0%BF%D0%B8%D1%81%D1%8C%D0%BC%D0%BE" TargetMode="External"/><Relationship Id="rId9" Type="http://schemas.openxmlformats.org/officeDocument/2006/relationships/hyperlink" Target="https://ru.wikipedia.org/wiki/%D0%A6%D0%B8%D0%BD%D1%8C_%D0%A8%D0%B8%D1%85%D1%83%D0%B0%D0%BD%D0%B4%D0%B8" TargetMode="External"/><Relationship Id="rId14" Type="http://schemas.openxmlformats.org/officeDocument/2006/relationships/hyperlink" Target="https://ru.wikipedia.org/wiki/%D0%9C%D0%B0%D0%B2%D0%B7%D0%BE%D0%BB%D0%B5%D0%B9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Цивилизация: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- локализованное во времени и пространстве общество. 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- стадия в развитии человеческого общества, характеризующуюся существованием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  <a:hlinkClick r:id="rId3" tooltip="Социальный класс"/>
              </a:rPr>
              <a:t>общественных страт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а также городов, письменности и других подобных явлений. Предложенная шотландским учёным стадиальная периодизация мировой истории (дикость 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  <a:hlinkClick r:id="rId4" tooltip="Варварство"/>
              </a:rPr>
              <a:t>варварство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— цивилизация) пользовалась поддержкой в научных кругах в конце XVIII — начале XIX века</a:t>
            </a:r>
            <a:r>
              <a:rPr lang="ru-RU" sz="1200" baseline="30000" dirty="0" smtClean="0">
                <a:latin typeface="Times New Roman" pitchFamily="18" charset="0"/>
                <a:cs typeface="Times New Roman" pitchFamily="18" charset="0"/>
                <a:hlinkClick r:id="rId5"/>
              </a:rPr>
              <a:t>[2]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но с ростом популярности в конце XIX — начале XX века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плюрально-циклического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подхода к истории, под общим понятием «цивилизации» всё больше стали подразумеваться «локальные цивилизации»</a:t>
            </a:r>
            <a:r>
              <a:rPr lang="ru-RU" sz="1200" baseline="30000" dirty="0" smtClean="0">
                <a:latin typeface="Times New Roman" pitchFamily="18" charset="0"/>
                <a:cs typeface="Times New Roman" pitchFamily="18" charset="0"/>
                <a:hlinkClick r:id="rId5"/>
              </a:rPr>
              <a:t>[3]</a:t>
            </a:r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Бронзовый век. Краткие сведения: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cultprosvet_mag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Ирригационное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земледелие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древнего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Шумера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«Терракотовая армия»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Китайский язык"/>
              </a:rPr>
              <a:t>кит.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Китайское письмо"/>
              </a:rPr>
              <a:t>трад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Китайское письмо"/>
              </a:rPr>
              <a:t>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兵馬俑</a:t>
            </a:r>
            <a:r>
              <a:rPr lang="en-US" altLang="ja-JP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Упрощение иероглифов"/>
              </a:rPr>
              <a:t>упр.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兵马俑</a:t>
            </a:r>
            <a:r>
              <a:rPr lang="en-US" altLang="ja-JP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Пиньинь"/>
              </a:rPr>
              <a:t>пиньинь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en-US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bīngmǎ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yǒng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Транскрипционная система Палладия"/>
              </a:rPr>
              <a:t>палл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Транскрипционная система Палладия"/>
              </a:rPr>
              <a:t>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бинма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юн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 — принятое название захоронения по меньшей мере 8099 полноразмерных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Терракота"/>
              </a:rPr>
              <a:t>терракотовых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статуй китайских воинов и их лошадей у мавзолея императора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Цинь Шихуанди"/>
              </a:rPr>
              <a:t>Цинь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Цинь Шихуанди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Цинь Шихуанди"/>
              </a:rPr>
              <a:t>Шихуанди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Сиань"/>
              </a:rPr>
              <a:t>Сиане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Терракотовые статуи были захоронены вместе с первым императором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Династия Цинь"/>
              </a:rPr>
              <a:t>династии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Династия Цинь"/>
              </a:rPr>
              <a:t>Цинь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Цинь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Шихуанди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(объединил Китай и соединил все звенья </a:t>
            </a:r>
            <a:r>
              <a:rPr lang="ru-RU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 tooltip="Великая Китайская стена"/>
              </a:rPr>
              <a:t>Великой стены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в 210—209 годах до н. э.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Фигуры, извлечённые из раскопа и собранные по частям</a:t>
            </a:r>
          </a:p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Сыма Цянь"/>
              </a:rPr>
              <a:t>Сыма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Сыма Цянь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Сыма Цянь"/>
              </a:rPr>
              <a:t>Цянь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сообщает, что через год после восхождения на престол в 246 году до н. э. 13-летний Ин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Чжэн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(будущий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Цинь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Шихуанди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стал строить свою гробницу. По его замыслу, статуи должны были сопровождать его в потустороннем мире и, вероятно, предоставить ему возможность удовлетворять свои властные амбиции в потустороннем мире так же, как он делал это при жизни. Строительство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4" tooltip="Мавзолей"/>
              </a:rPr>
              <a:t>мавзолея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потребовало усилий более чем 700 тыс. рабочих и ремесленников и длилось 38 лет. Периметр внешней стены захоронения равен 6 км.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>
              <a:buFontTx/>
              <a:buNone/>
            </a:pPr>
            <a:r>
              <a:rPr lang="ru-RU" sz="1200" b="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 жестокость, при </a:t>
            </a:r>
          </a:p>
          <a:p>
            <a:pPr marL="285750" lvl="0" indent="-285750">
              <a:buFontTx/>
              <a:buNone/>
            </a:pPr>
            <a:r>
              <a:rPr lang="ru-RU" sz="1200" b="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угрозе жизни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036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1" dirty="0" smtClean="0">
                <a:latin typeface="Times New Roman" pitchFamily="18" charset="0"/>
                <a:cs typeface="Times New Roman" pitchFamily="18" charset="0"/>
              </a:rPr>
              <a:t>Британский музей. Лондон.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1" dirty="0" smtClean="0">
                <a:latin typeface="Times New Roman" pitchFamily="18" charset="0"/>
                <a:cs typeface="Times New Roman" pitchFamily="18" charset="0"/>
              </a:rPr>
              <a:t>Народное собрание в Др. Греции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sz="1200" i="1" dirty="0" smtClean="0">
                <a:latin typeface="Times New Roman" pitchFamily="18" charset="0"/>
                <a:cs typeface="Times New Roman" pitchFamily="18" charset="0"/>
              </a:rPr>
              <a:t>Спарта: Гражданам было запрещено заниматься хозяйством, </a:t>
            </a:r>
          </a:p>
          <a:p>
            <a:pPr>
              <a:defRPr/>
            </a:pP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Все</a:t>
            </a:r>
          </a:p>
          <a:p>
            <a:pPr>
              <a:defRPr/>
            </a:pPr>
            <a:endParaRPr lang="ru-RU" sz="1200" b="1" i="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1" u="none" baseline="0" dirty="0" smtClean="0">
                <a:latin typeface="Times New Roman" pitchFamily="18" charset="0"/>
                <a:cs typeface="Times New Roman" pitchFamily="18" charset="0"/>
              </a:rPr>
              <a:t>родоплеменные традиции </a:t>
            </a:r>
            <a:r>
              <a:rPr lang="ru-RU" sz="1200" b="0" i="1" u="none" baseline="0" dirty="0" smtClean="0">
                <a:latin typeface="Times New Roman" pitchFamily="18" charset="0"/>
                <a:cs typeface="Times New Roman" pitchFamily="18" charset="0"/>
              </a:rPr>
              <a:t>как в Греции),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Граждане Рима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(патриции, т.е.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«имеющие отцов»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наследники 300 коренных родов, живших вокруг небольшой крепости на Капитолийском холме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Граждане Рима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(патриции, т.е.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«имеющие отцов»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наследники 300 коренных родов, живших вокруг небольшой крепости на Капитолийском холме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Граждане Рима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(патриции, т.е.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«имеющие отцов»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наследники 300 коренных родов, живших вокруг небольшой крепости на Капитолийском холме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C3997-9CD0-4FE9-B276-B6ECAB1B1BA3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42844" y="96728"/>
          <a:ext cx="8858312" cy="70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56"/>
                <a:gridCol w="4429156"/>
              </a:tblGrid>
              <a:tr h="3038507">
                <a:tc gridSpan="2">
                  <a:txBody>
                    <a:bodyPr/>
                    <a:lstStyle/>
                    <a:p>
                      <a:pPr algn="ctr"/>
                      <a:endParaRPr lang="ru-RU" sz="3200" b="1" dirty="0" smtClean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Лекция 2. </a:t>
                      </a:r>
                    </a:p>
                    <a:p>
                      <a:pPr algn="ctr"/>
                      <a:r>
                        <a:rPr lang="ru-RU" sz="3200" b="1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История</a:t>
                      </a:r>
                      <a:r>
                        <a:rPr lang="ru-RU" sz="3200" b="1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древних </a:t>
                      </a:r>
                      <a:r>
                        <a:rPr lang="ru-RU" sz="3200" b="1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цивилизаций</a:t>
                      </a:r>
                      <a:r>
                        <a:rPr lang="ru-RU" sz="3200" b="1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 algn="ctr"/>
                      <a:endParaRPr lang="ru-RU" sz="1800" b="1" dirty="0" smtClean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514350" indent="-514350">
                        <a:buNone/>
                      </a:pPr>
                      <a:r>
                        <a:rPr lang="ru-RU" sz="2800" b="1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 Периодизация древней истории. </a:t>
                      </a:r>
                    </a:p>
                    <a:p>
                      <a:r>
                        <a:rPr lang="ru-RU" sz="2800" b="1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r>
                        <a:rPr lang="ru-RU" sz="2800" b="1" kern="120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Цивилизации Древнего Востока. </a:t>
                      </a:r>
                      <a:endParaRPr lang="ru-RU" sz="2800" b="1" dirty="0" smtClean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2800" b="1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 Цивилизации Античного мира (Древняя</a:t>
                      </a:r>
                      <a:r>
                        <a:rPr lang="ru-RU" sz="2800" b="1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Греция и Древний Рим).</a:t>
                      </a:r>
                      <a:endParaRPr lang="ru-RU" sz="2800" b="1" dirty="0" smtClean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800" b="1" dirty="0" smtClean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9509">
                <a:tc>
                  <a:txBody>
                    <a:bodyPr/>
                    <a:lstStyle/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2" descr="http://dizayni.ru/wp-content/uploads/2013/02/Dizayni-1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106" r="2922"/>
          <a:stretch/>
        </p:blipFill>
        <p:spPr bwMode="auto">
          <a:xfrm>
            <a:off x="4643438" y="3717032"/>
            <a:ext cx="4292482" cy="292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fotosselect.ru/wp-content/uploads/2015/06/egypt-oboi-piramida-sfink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3717032"/>
            <a:ext cx="4247940" cy="29266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14283" y="161948"/>
          <a:ext cx="8715436" cy="648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4"/>
                <a:gridCol w="3857652"/>
              </a:tblGrid>
              <a:tr h="406559">
                <a:tc gridSpan="2">
                  <a:txBody>
                    <a:bodyPr/>
                    <a:lstStyle/>
                    <a:p>
                      <a:pPr marL="514350" indent="-514350" algn="ctr">
                        <a:buNone/>
                      </a:pPr>
                      <a:r>
                        <a:rPr lang="ru-RU" sz="2800" b="1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 Периодизация древней истории.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06559">
                <a:tc>
                  <a:txBody>
                    <a:bodyPr/>
                    <a:lstStyle/>
                    <a:p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Первобытная родовая община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(предыстория)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45 000-8000  гг. до н. э.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6559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Период </a:t>
                      </a:r>
                      <a:r>
                        <a:rPr lang="ru-RU" sz="20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протогосударств</a:t>
                      </a:r>
                      <a:r>
                        <a:rPr lang="ru-RU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(отрывочные свидетельства)</a:t>
                      </a:r>
                      <a:endParaRPr lang="ru-RU" sz="20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8000–3500 гг. до н. э.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6559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Период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древних империй</a:t>
                      </a:r>
                      <a:r>
                        <a:rPr lang="ru-RU" sz="20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цивилизаций)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3500-600 гг. до н. э.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590">
                <a:tc>
                  <a:txBody>
                    <a:bodyPr/>
                    <a:lstStyle/>
                    <a:p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Период античных государств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III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тыс.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до н. э. – 476 г. н. э.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58723">
                <a:tc gridSpan="2"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2" descr="http://www.moldovenii.md/resources/files/images/istoria/istoria_antica/Primele-civilizatii_ru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928934"/>
            <a:ext cx="8572560" cy="3643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7504" y="116632"/>
          <a:ext cx="8928992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/>
                <a:gridCol w="2952328"/>
                <a:gridCol w="3816424"/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 Великие державы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2800" b="1" dirty="0" smtClean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70072">
                <a:tc gridSpan="3">
                  <a:txBody>
                    <a:bodyPr/>
                    <a:lstStyle/>
                    <a:p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Цивилизация:</a:t>
                      </a:r>
                    </a:p>
                    <a:p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локализованное во времени и пространстве общество;</a:t>
                      </a:r>
                    </a:p>
                    <a:p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стадия в развитии человеческого общества, характеризуются существованием общественных слоев, городов, письменности и др.  (дикость - варварство</a:t>
                      </a:r>
                      <a:r>
                        <a:rPr lang="ru-RU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цивилизация).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Цивилизация</a:t>
                      </a:r>
                      <a:endParaRPr lang="ru-RU" sz="20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Время и место</a:t>
                      </a:r>
                      <a:endParaRPr lang="ru-RU" sz="20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Период существования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Египетская</a:t>
                      </a:r>
                      <a:endParaRPr lang="ru-RU" sz="2000" dirty="0" smtClean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тыс. до н. э.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в долине 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р. Нил в Египте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endParaRPr lang="en-US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3200-525 гг. до н.э. </a:t>
                      </a:r>
                      <a:r>
                        <a:rPr lang="ru-RU" sz="2000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(разгром египтян персами)</a:t>
                      </a:r>
                      <a:endParaRPr lang="ru-RU" sz="2000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Междуречье: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Шумер, Аккад, Вавилон,</a:t>
                      </a:r>
                      <a:endParaRPr lang="ru-RU" sz="20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Ассирия.</a:t>
                      </a:r>
                      <a:endParaRPr lang="ru-RU" sz="20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тыс. до н. э.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между 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рек Тигр и </a:t>
                      </a:r>
                      <a:r>
                        <a:rPr lang="ru-RU" sz="20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Ефрат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— в Месопотамии.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середина </a:t>
                      </a:r>
                      <a:r>
                        <a:rPr lang="en-US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IV </a:t>
                      </a: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тыс.</a:t>
                      </a:r>
                      <a:r>
                        <a:rPr lang="ru-RU" sz="2000" baseline="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до н.э. </a:t>
                      </a: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000" baseline="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(эпоха </a:t>
                      </a:r>
                      <a:r>
                        <a:rPr lang="ru-RU" sz="20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Урук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- 539 г. до н. э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. (падение Вавилона</a:t>
                      </a:r>
                      <a:r>
                        <a:rPr lang="ru-RU" sz="200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от персов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). </a:t>
                      </a:r>
                      <a:endParaRPr lang="ru-RU" sz="2000" b="1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Индия</a:t>
                      </a:r>
                      <a:endParaRPr lang="ru-RU" sz="2000" dirty="0" smtClean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III—II тыс. до н. э. 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в долине 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р.Инд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XVI</a:t>
                      </a:r>
                      <a:r>
                        <a:rPr lang="en-US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II</a:t>
                      </a: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в. до н.э.</a:t>
                      </a: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– </a:t>
                      </a: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415г. н.э. </a:t>
                      </a:r>
                      <a:r>
                        <a:rPr lang="ru-RU" sz="2000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(конец правления </a:t>
                      </a:r>
                      <a:r>
                        <a:rPr lang="ru-RU" sz="20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Чандрагупты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 II </a:t>
                      </a:r>
                      <a:r>
                        <a:rPr lang="ru-RU" sz="20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Викрамадитья</a:t>
                      </a:r>
                      <a:r>
                        <a:rPr lang="ru-RU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 «золотого века») </a:t>
                      </a:r>
                      <a:endParaRPr lang="ru-RU" sz="20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Китай</a:t>
                      </a:r>
                      <a:endParaRPr lang="ru-RU" sz="2000" dirty="0" smtClean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II тыс. до н. э.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в долине </a:t>
                      </a:r>
                      <a:r>
                        <a:rPr lang="ru-RU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р.Хуанхэ.</a:t>
                      </a:r>
                      <a:endParaRPr lang="ru-RU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1765 г. до н. э.</a:t>
                      </a:r>
                      <a:r>
                        <a:rPr lang="ru-RU" sz="20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– </a:t>
                      </a:r>
                      <a:r>
                        <a:rPr lang="ru-RU" sz="2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220 г.н.э., (</a:t>
                      </a:r>
                      <a:r>
                        <a:rPr lang="ru-RU" sz="2000" i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хронология империи 5 династий до 2000 г. до н.э. неизвестна) </a:t>
                      </a:r>
                      <a:endParaRPr lang="ru-RU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392" y="351103"/>
            <a:ext cx="3555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2417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07504" y="116632"/>
          <a:ext cx="8928992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0"/>
                <a:gridCol w="2940502"/>
                <a:gridCol w="4446900"/>
              </a:tblGrid>
              <a:tr h="504056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Климат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в долинах «великих» рек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«речные цивилизации»):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Месопотамия </a:t>
                      </a:r>
                      <a:r>
                        <a:rPr lang="ru-RU" sz="2400" b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(Шумер, Аккад, Вавилон) в междуречье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р.Тигра 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р. Евфрата;</a:t>
                      </a: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Др. Египет – </a:t>
                      </a:r>
                      <a:r>
                        <a:rPr lang="ru-RU" sz="2400" b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 долине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р. Нила;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Др. Индия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– 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 долине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р.Инд.</a:t>
                      </a: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Др. Китай – </a:t>
                      </a:r>
                      <a:r>
                        <a:rPr lang="ru-RU" sz="2400" b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 междуречье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р. Янцзы </a:t>
                      </a:r>
                      <a:r>
                        <a:rPr lang="ru-RU" sz="2400" b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р. Хуанхэ.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dirty="0" smtClean="0"/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среднегодовая температура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+20°С.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940" name="Picture 4" descr="http://looklex.com/e.o/slides/tigris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429000"/>
            <a:ext cx="4392488" cy="292895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85720" y="6286520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Долина р. Тигр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42" name="Picture 6" descr="http://bilder.t-online.de/b/54/16/52/40/id_54165240/tid_da/der-afrikanische-nil-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429000"/>
            <a:ext cx="4320480" cy="2928958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643438" y="6286520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Долина р.Нил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611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14282" y="188641"/>
          <a:ext cx="8715436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4842"/>
                <a:gridCol w="4500594"/>
              </a:tblGrid>
              <a:tr h="50405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None/>
                      </a:pPr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43592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Хозяйство</a:t>
                      </a: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поливное земледелие</a:t>
                      </a:r>
                      <a:r>
                        <a:rPr lang="ru-RU" sz="24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(разливы рек → плодородие, система каналов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орошение);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торговля</a:t>
                      </a:r>
                      <a:r>
                        <a:rPr lang="ru-RU" sz="24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(по речным путям);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натуральное хозяйство</a:t>
                      </a:r>
                      <a:endParaRPr lang="ru-RU" sz="2400" b="1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 </a:t>
                      </a:r>
                      <a:r>
                        <a:rPr lang="ru-RU" sz="2400" b="0" i="0" kern="1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самодостаточный</a:t>
                      </a: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тип</a:t>
                      </a:r>
                      <a:r>
                        <a:rPr lang="ru-RU" sz="24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0" i="0" u="none" strike="noStrike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хозяйствования</a:t>
                      </a: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направленный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на </a:t>
                      </a:r>
                      <a:r>
                        <a:rPr lang="ru-RU" sz="2400" b="1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удовлетворение</a:t>
                      </a:r>
                      <a:r>
                        <a:rPr lang="ru-RU" sz="2400" b="1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своих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1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потребностей</a:t>
                      </a: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(не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на продажу)</a:t>
                      </a:r>
                      <a:r>
                        <a:rPr lang="ru-RU" sz="24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→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тормоз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в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развитии рынка.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Преобладает 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государственная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и общинная собственность 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на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землю – основа 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личной </a:t>
                      </a:r>
                    </a:p>
                    <a:p>
                      <a:pPr marL="285750" indent="-285750">
                        <a:buFontTx/>
                        <a:buNone/>
                      </a:pP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несвободы.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https://lh3.googleusercontent.com/Q-0uqdvPQZbAPj_Y5NqkX_XR7dSgR_vlOpNnWGdOY235=w1259-h1239-n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1412776"/>
            <a:ext cx="4135317" cy="432048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251520" y="5805264"/>
            <a:ext cx="4141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Ирригационное земледелие 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древнего Шумера.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392" y="351103"/>
            <a:ext cx="3555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2417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14282" y="214290"/>
          <a:ext cx="8715436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72"/>
                <a:gridCol w="5572164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11260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Политическая система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Восточная деспотия 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форма государственной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власти, политический режим, с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неограниченными полномочиями обожествляемого монарха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- 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единоличного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правителя, высшего судьи и жреца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>
                        <a:buFontTx/>
                        <a:buNone/>
                      </a:pPr>
                      <a:endParaRPr lang="ru-RU" sz="2400" baseline="0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Причины: </a:t>
                      </a:r>
                      <a:r>
                        <a:rPr lang="ru-RU" sz="2400" b="0" i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ека обеспечивала плодородие, но заболачивалась, разливалась, уничтожая посевы → необходимо было обеспечивать бесперебойную подачу воды →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построение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ирригационной системы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каналы и дамбы),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 привлечением множества людей, жестко подчиненных иерархии.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1746" name="Picture 2" descr="http://www.ice-nut.ru/egypt/egypt09701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500174"/>
            <a:ext cx="2857520" cy="392909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14282" y="5429264"/>
            <a:ext cx="3143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Погребальная маска  фараона Тутанхамона 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XIV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в.до н.э.)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Египетский музей,  Каир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611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42844" y="142853"/>
          <a:ext cx="8858312" cy="6598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32"/>
                <a:gridCol w="4286280"/>
              </a:tblGrid>
              <a:tr h="441892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0055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Государство</a:t>
                      </a:r>
                      <a:endParaRPr lang="ru-RU" sz="2400" u="none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деспотическое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(власть</a:t>
                      </a:r>
                      <a:r>
                        <a:rPr lang="ru-RU" sz="24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правителя неограниченна);</a:t>
                      </a: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единовластное;</a:t>
                      </a:r>
                    </a:p>
                    <a:p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правитель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= богу;</a:t>
                      </a:r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государство «встало над общинами», руководило ими;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опора правителя 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мощный аппарат чиновников, многочисленную армию.</a:t>
                      </a: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государства Древнего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востока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многонациональные империи,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основанные на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насилии;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войны преобладают над дипломатией.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62195">
                <a:tc>
                  <a:txBody>
                    <a:bodyPr/>
                    <a:lstStyle/>
                    <a:p>
                      <a:endParaRPr lang="ru-RU" sz="2400" u="none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4" descr="http://planetofdream.com/images/1/2013/11/s574u780615.jpg"/>
          <p:cNvPicPr>
            <a:picLocks noChangeAspect="1" noChangeArrowheads="1"/>
          </p:cNvPicPr>
          <p:nvPr/>
        </p:nvPicPr>
        <p:blipFill>
          <a:blip r:embed="rId3" cstate="print"/>
          <a:srcRect l="1395" t="20465"/>
          <a:stretch>
            <a:fillRect/>
          </a:stretch>
        </p:blipFill>
        <p:spPr bwMode="auto">
          <a:xfrm>
            <a:off x="251520" y="1412776"/>
            <a:ext cx="4380260" cy="374441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51520" y="5301208"/>
            <a:ext cx="44644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«Терракотовая армия» 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(8099  статуй воинов и лошадей)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у мавзолея императора  </a:t>
            </a:r>
          </a:p>
          <a:p>
            <a:pPr algn="ctr"/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Цинь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Шихуанди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  в 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Сиане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III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в. до н.э.</a:t>
            </a:r>
          </a:p>
        </p:txBody>
      </p:sp>
    </p:spTree>
    <p:extLst>
      <p:ext uri="{BB962C8B-B14F-4D97-AF65-F5344CB8AC3E}">
        <p14:creationId xmlns:p14="http://schemas.microsoft.com/office/powerpoint/2010/main" xmlns="" val="27379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42844" y="44625"/>
          <a:ext cx="8858312" cy="6696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26"/>
                <a:gridCol w="6929486"/>
              </a:tblGrid>
              <a:tr h="57606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lvl="0" indent="-285750">
                        <a:buFontTx/>
                        <a:buNone/>
                      </a:pPr>
                      <a:endParaRPr lang="ru-RU" sz="2400" b="0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17623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Законы</a:t>
                      </a:r>
                      <a:endParaRPr lang="ru-RU" sz="2400" b="1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Первое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законодательство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законы </a:t>
                      </a:r>
                      <a:r>
                        <a:rPr lang="ru-RU" sz="2400" b="1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царя Вавилона Хаммурапи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(1792–1750 гг.до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н.э.):</a:t>
                      </a:r>
                    </a:p>
                    <a:p>
                      <a:pPr marL="285750" lvl="0" indent="-285750">
                        <a:buFontTx/>
                        <a:buNone/>
                      </a:pP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Принцип талиона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(лат. «</a:t>
                      </a:r>
                      <a:r>
                        <a:rPr lang="en-US" sz="2400" b="0" i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talio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» такой же)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</a:p>
                    <a:p>
                      <a:pPr marL="285750" lvl="0" indent="-285750">
                        <a:buFontTx/>
                        <a:buNone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равного возмездия (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«око за око, зуб за зуб»).</a:t>
                      </a:r>
                    </a:p>
                    <a:p>
                      <a:pPr lvl="0"/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Закрепление социального неравенства: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статус преступника→ тяжесть наказания;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самые жестокие наказания за преступления против власти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 жрецов.</a:t>
                      </a:r>
                    </a:p>
                    <a:p>
                      <a:pPr lvl="0"/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Поддержка патриархального уклада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 глава семьи 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мужчина распоряжался имуществом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 членами семьи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(разрешалась продажа в рабство детей).</a:t>
                      </a:r>
                    </a:p>
                    <a:p>
                      <a:pPr lvl="0"/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Защита частной собственности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суровые наказания за кражу/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порчу).</a:t>
                      </a:r>
                    </a:p>
                    <a:p>
                      <a:pPr marL="285750" lvl="0" indent="-285750">
                        <a:buFontTx/>
                        <a:buNone/>
                      </a:pP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Защита прав личности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раб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мог </a:t>
                      </a:r>
                    </a:p>
                    <a:p>
                      <a:pPr marL="285750" lvl="0" indent="-285750">
                        <a:buFontTx/>
                        <a:buNone/>
                      </a:pP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жаловаться искать убежища в храме).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https://im-tub-ap-ru.yandex.net/pic/36f962a3e61424d69d4d0b533077370b/www.kleo.ru/img/articles/Pv7l5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38" r="25480"/>
          <a:stretch/>
        </p:blipFill>
        <p:spPr bwMode="auto">
          <a:xfrm>
            <a:off x="214282" y="1090664"/>
            <a:ext cx="1765430" cy="44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512" y="5500702"/>
            <a:ext cx="18722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Базальтовый </a:t>
            </a:r>
          </a:p>
          <a:p>
            <a:pPr algn="ctr">
              <a:defRPr/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столб </a:t>
            </a:r>
          </a:p>
          <a:p>
            <a:pPr algn="ctr">
              <a:defRPr/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с законами Хаммурапи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&amp;Kcy;&amp;acy;&amp;rcy;&amp;tcy;&amp;icy;&amp;ncy;&amp;kcy;&amp;icy; &amp;pcy;&amp;ocy; &amp;zcy;&amp;acy;&amp;pcy;&amp;rcy;&amp;ocy;&amp;scy;&amp;ucy; &amp;dcy;&amp;rcy;&amp;iecy;&amp;vcy;&amp;ncy;&amp;iecy;&amp;vcy;&amp;ocy;&amp;scy;&amp;tcy;&amp;ocy;&amp;chcy;&amp;ncy;&amp;acy;&amp;yacy; &amp;dcy;&amp;iecy;&amp;scy;&amp;pcy;&amp;ocy;&amp;tcy;&amp;icy;&amp;yacy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10" descr="&amp;Kcy;&amp;acy;&amp;rcy;&amp;tcy;&amp;icy;&amp;ncy;&amp;kcy;&amp;icy; &amp;pcy;&amp;ocy; &amp;zcy;&amp;acy;&amp;pcy;&amp;rcy;&amp;ocy;&amp;scy;&amp;ucy; &amp;dcy;&amp;rcy;&amp;iecy;&amp;vcy;&amp;ncy;&amp;iecy;&amp;vcy;&amp;ocy;&amp;scy;&amp;tcy;&amp;ocy;&amp;chcy;&amp;ncy;&amp;acy;&amp;yacy; &amp;dcy;&amp;iecy;&amp;scy;&amp;pcy;&amp;ocy;&amp;tcy;&amp;icy;&amp;yacy;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42845" y="142853"/>
          <a:ext cx="8858311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3"/>
                <a:gridCol w="6858048"/>
              </a:tblGrid>
              <a:tr h="35718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70132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 структура 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трогая иерархия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18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порядок</a:t>
                      </a: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u="none" strike="noStrike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подчинённости.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Социальная структура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замкнутая: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статус человека (обязанности, права,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привилегии)</a:t>
                      </a:r>
                      <a:r>
                        <a:rPr lang="ru-RU" sz="2400" b="1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определен рождением,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нельзя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продвинуться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(о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собенно в</a:t>
                      </a:r>
                      <a:r>
                        <a:rPr lang="ru-RU" sz="2400" b="1" i="0" dirty="0" smtClean="0">
                          <a:latin typeface="Times New Roman" pitchFamily="18" charset="0"/>
                          <a:cs typeface="Times New Roman" pitchFamily="18" charset="0"/>
                        </a:rPr>
                        <a:t> Древней Индии (касты).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«</a:t>
                      </a:r>
                      <a:r>
                        <a:rPr lang="ru-RU" sz="24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Застылость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» -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неспособность к развитию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→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гибели древневосточные государства.</a:t>
                      </a:r>
                      <a:endParaRPr lang="ru-RU" sz="2400" b="1" i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70132">
                <a:tc gridSpan="2">
                  <a:txBody>
                    <a:bodyPr/>
                    <a:lstStyle/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  <a:p>
                      <a:endParaRPr lang="ru-RU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ru-RU" sz="2400" b="1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1746" name="Picture 2" descr="http://torrentto.ru/images/a/c/vostochnaja-despotija-pozhalujsta-d_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3" y="3501008"/>
            <a:ext cx="2928957" cy="3168352"/>
          </a:xfrm>
          <a:prstGeom prst="rect">
            <a:avLst/>
          </a:prstGeom>
          <a:noFill/>
        </p:spPr>
      </p:pic>
      <p:pic>
        <p:nvPicPr>
          <p:cNvPr id="31750" name="Picture 6" descr="http://torrentto.ru/images/a/c/vostochnaja-despotija-pozhalujsta-d_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43240" y="3501008"/>
            <a:ext cx="3071834" cy="3168352"/>
          </a:xfrm>
          <a:prstGeom prst="rect">
            <a:avLst/>
          </a:prstGeom>
          <a:noFill/>
        </p:spPr>
      </p:pic>
      <p:pic>
        <p:nvPicPr>
          <p:cNvPr id="31752" name="Picture 8" descr="http://festival.1september.ru/articles/533370/img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3501008"/>
            <a:ext cx="2786062" cy="3168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74009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3" y="116632"/>
          <a:ext cx="8750206" cy="662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5364"/>
                <a:gridCol w="4214842"/>
              </a:tblGrid>
              <a:tr h="68125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670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 структура </a:t>
                      </a:r>
                      <a:endParaRPr lang="ru-RU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Правитель: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живой бог,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верховный жрец,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собственник всех земель,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глава армии,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источник права,</a:t>
                      </a: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высший судья,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неограниченный, наследственный.</a:t>
                      </a: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04422">
                <a:tc>
                  <a:txBody>
                    <a:bodyPr/>
                    <a:lstStyle/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0724" name="Picture 4" descr="http://doramakun.ru/thumbs/users/32463/7/7/286-6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4320480" cy="4889751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4932040" y="5877272"/>
            <a:ext cx="3888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Император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Цинь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Шихуанди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(259 до н. э. — 210 до н. э.)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6" name="AutoShape 2" descr="G:\%D0%A3%D1%87%D0%B5%D0%B1%D0%BD%D0%B0%D1%8F %D1%80%D0%B0%D0%B1%D0%BE%D1%82%D0%B0 %D0%A1%D0%B8%D0%BD%D0%B5%D1%80%D0%B3%D0%B8%D1%8F\%D0%98%D1%81%D1%82%D0%BE%D1%80%D0%B8%D1%8F\%D0%9C%D0%BE%D0%B8 %D0%BD%D0%B0%D1%80%D0%B0%D0%B1%D0%BE%D1%82%D0%BA%D0%B8\%D0%A2%D0%B5%D0%BC%D0%B0 3 %D0%94%D1%80%D0%B5%D0%B2%D0%BD%D0%B8%D0%B9 %D0%BC%D0%B8%D1%80\%D0%BC%D0%B0%D1%82%D0%B5%D1%80%D0%B8%D0%B0%D0%BB%D1%8B\%D0%A7%D0%B8%D1%82%D0%B0%D1%82%D1%8C %D0%B1%D0%B5%D1%81%D0%BF%D0%BB%D0%B0%D1%82%D0%BD%D0%BE %D0%BA%D0%BD%D0%B8%D0%B3%D1%83 %D0%98%D1%81%D1%82%D0%BE%D1%80%D0%B8%D1%8F %D0%BC%D0%B8%D1%80%D0%BE%D0%B2%D1%8B%D1%85 %D1%86%D0%B8%D0%B2%D0%B8%D0%BB%D0%B8%D0%B7%D0%B0%D1%86%D0%B8%D0%B9, %D0%92%D0%BB%D0%B0%D0%B4%D0%B8%D0%BC%D0%B8%D1%80 %D0%A4%D0%BE%D1%80%D1%82%D1%83%D0%BD%D0%B0%D1%82%D0%BE%D0%B2 (8-%D1%8F %D1%81%D1%82%D1%80%D0%B0%D0%BD%D0%B8%D1%86%D0%B0 %D0%BA%D0%BD%D0%B8%D0%B3%D0%B8)_files\i_01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42845" y="116633"/>
          <a:ext cx="8858312" cy="6566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7307"/>
                <a:gridCol w="3061005"/>
              </a:tblGrid>
              <a:tr h="56487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87854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структура</a:t>
                      </a:r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Жрецы: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служители культа.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особое влияние на общество и правителя (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религиозное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сознание).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Знать:</a:t>
                      </a:r>
                    </a:p>
                    <a:p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высшие государственные посты, </a:t>
                      </a:r>
                      <a:endParaRPr lang="ru-RU" sz="2400" b="0" i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земли и богатства, ● участники борьбы за власть </a:t>
                      </a:r>
                    </a:p>
                    <a:p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влияние на правителя. </a:t>
                      </a:r>
                      <a:endParaRPr lang="ru-RU" sz="2400" b="1" i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3284984"/>
            <a:ext cx="6084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Боги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Энки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Эйя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Уту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Шамаш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Иманна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Иштар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). Оттиск печати аккадского времени. 2-я половина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III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тыс. до н.э. Британский музей. Лондон. 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700" name="Picture 4" descr="http://www.vilagbiztonsag.hu/index_files/image44091.jpg"/>
          <p:cNvPicPr>
            <a:picLocks noChangeAspect="1" noChangeArrowheads="1"/>
          </p:cNvPicPr>
          <p:nvPr/>
        </p:nvPicPr>
        <p:blipFill>
          <a:blip r:embed="rId3" cstate="print"/>
          <a:srcRect l="4086" t="3360" r="3289" b="9282"/>
          <a:stretch>
            <a:fillRect/>
          </a:stretch>
        </p:blipFill>
        <p:spPr bwMode="auto">
          <a:xfrm>
            <a:off x="251520" y="1124744"/>
            <a:ext cx="5649858" cy="2160240"/>
          </a:xfrm>
          <a:prstGeom prst="rect">
            <a:avLst/>
          </a:prstGeom>
          <a:noFill/>
        </p:spPr>
      </p:pic>
      <p:pic>
        <p:nvPicPr>
          <p:cNvPr id="29698" name="Picture 2" descr="http://chinacook.ru/wp-content/uploads/2015/11/imperato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221088"/>
            <a:ext cx="4032448" cy="214371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79512" y="6309320"/>
            <a:ext cx="5841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Придворные императора в Древнем Китае.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7504" y="131469"/>
          <a:ext cx="8856984" cy="659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6840760"/>
              </a:tblGrid>
              <a:tr h="55401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ru-RU" sz="2400" b="0" i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87104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структура</a:t>
                      </a: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Производители:</a:t>
                      </a:r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свободные крестьяне-общинники,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ремесленники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основная часть населения;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платили налоги правителю.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50437">
                <a:tc vMerge="1">
                  <a:txBody>
                    <a:bodyPr/>
                    <a:lstStyle/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 Зависимые крестьяне: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аренда</a:t>
                      </a:r>
                      <a:r>
                        <a:rPr lang="ru-RU" sz="2400" b="0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земли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у храмов, знати, царя;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не могли уйти со своих участков.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74322">
                <a:tc gridSpan="2">
                  <a:txBody>
                    <a:bodyPr/>
                    <a:lstStyle/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28" name="Picture 4" descr="http://900igr.net/datai/istorija/Egipet-i-egiptjane/0020-023-Tak-tjazhelym-trudom-prevratili-egiptjane-bolota-Nila-v-tsvetuschie-polja-i.png"/>
          <p:cNvPicPr>
            <a:picLocks noChangeAspect="1" noChangeArrowheads="1"/>
          </p:cNvPicPr>
          <p:nvPr/>
        </p:nvPicPr>
        <p:blipFill>
          <a:blip r:embed="rId2" cstate="print"/>
          <a:srcRect l="3035" t="4167" r="1854" b="4167"/>
          <a:stretch>
            <a:fillRect/>
          </a:stretch>
        </p:blipFill>
        <p:spPr bwMode="auto">
          <a:xfrm>
            <a:off x="251521" y="3501008"/>
            <a:ext cx="8640959" cy="3096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7504" y="116633"/>
          <a:ext cx="8928992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648"/>
                <a:gridCol w="3096344"/>
              </a:tblGrid>
              <a:tr h="50405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1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81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структура</a:t>
                      </a: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Рабы: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не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свободные члены общества 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(пленники и должники);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низшая ступень социальной лестницы,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работали в земледелии, ремесле, в дворцовых и храмовых хозяйствах, на рудниках и строительстве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не играли ведущую роль в хозяйстве.</a:t>
                      </a:r>
                    </a:p>
                    <a:p>
                      <a:pPr>
                        <a:buFontTx/>
                        <a:buNone/>
                      </a:pPr>
                      <a:endParaRPr lang="ru-RU" sz="2400" b="1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4" descr="http://4.bp.blogspot.com/-BYEROjhXPHc/U2UuKXXqTLI/AAAAAAAAAYo/80FrqppVz1E/s1600/piramidi+in+costruzi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5699573" cy="47525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42844" y="214290"/>
          <a:ext cx="8858312" cy="646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24"/>
                <a:gridCol w="5429288"/>
              </a:tblGrid>
              <a:tr h="57275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Древнего Востока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22620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Духовная культура</a:t>
                      </a:r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Обожествление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правителя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endParaRPr lang="ru-RU" sz="24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художественная культура обслуживает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интересы высшей власти и духовенства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общественное сознание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консервативно, патриархально, «покорно судьбе». </a:t>
                      </a:r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34044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4514" name="Picture 2" descr="http://www.topkurortov.com/wp-content/uploads/2015/08/piramida-giz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3306" y="3500438"/>
            <a:ext cx="5286412" cy="3071834"/>
          </a:xfrm>
          <a:prstGeom prst="rect">
            <a:avLst/>
          </a:prstGeom>
          <a:noFill/>
        </p:spPr>
      </p:pic>
      <p:pic>
        <p:nvPicPr>
          <p:cNvPr id="64516" name="Picture 4" descr="http://protivsmi.at.ua/c4e0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246" y="1412776"/>
            <a:ext cx="3352920" cy="421541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51520" y="5589240"/>
            <a:ext cx="3143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Эхнатон и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Нефертити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возносят молитву </a:t>
            </a:r>
            <a:r>
              <a:rPr lang="ru-RU" sz="2000" b="1" i="1" dirty="0" err="1" smtClean="0">
                <a:latin typeface="Times New Roman" pitchFamily="18" charset="0"/>
                <a:cs typeface="Times New Roman" pitchFamily="18" charset="0"/>
              </a:rPr>
              <a:t>Атону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 (Богу Солнца) .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42844" y="116633"/>
          <a:ext cx="8858312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56"/>
                <a:gridCol w="4429156"/>
              </a:tblGrid>
              <a:tr h="504055"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b="1" dirty="0" smtClean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 Древняя Греция и Древний Рим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962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Античность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лат. «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anticus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» - древний) </a:t>
                      </a: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истории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Др. Греции и Рима,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завоеванных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ими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городов (</a:t>
                      </a:r>
                      <a:r>
                        <a:rPr lang="en-US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III</a:t>
                      </a:r>
                      <a:r>
                        <a:rPr lang="en-US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тыс.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до н. э. – 476 г. н. э.)</a:t>
                      </a: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962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3490" name="Picture 2" descr="http://2.bp.blogspot.com/-PEi6szMc5SI/UnU2fSHJ2dI/AAAAAAAAAEg/smtx7z6EUaE/s1600/bandicam+2013-11-02+21-22-47-776.jpg"/>
          <p:cNvPicPr>
            <a:picLocks noChangeAspect="1" noChangeArrowheads="1"/>
          </p:cNvPicPr>
          <p:nvPr/>
        </p:nvPicPr>
        <p:blipFill>
          <a:blip r:embed="rId2" cstate="print"/>
          <a:srcRect l="11719" t="1022" r="17968" b="14168"/>
          <a:stretch>
            <a:fillRect/>
          </a:stretch>
        </p:blipFill>
        <p:spPr bwMode="auto">
          <a:xfrm>
            <a:off x="214282" y="1643049"/>
            <a:ext cx="4286280" cy="4954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Picture 2" descr="https://im-tub-ap-ru.yandex.net/pic/5192236b99a544f64782baefe4db194d/ok-t.ru/studopediaru/baza3/755921427798.files/image0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643051"/>
            <a:ext cx="4286280" cy="49543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3635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5-конечная звезда 3"/>
          <p:cNvSpPr/>
          <p:nvPr/>
        </p:nvSpPr>
        <p:spPr>
          <a:xfrm>
            <a:off x="5220072" y="4221088"/>
            <a:ext cx="360040" cy="288032"/>
          </a:xfrm>
          <a:prstGeom prst="star5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4-конечная звезда 4"/>
          <p:cNvSpPr/>
          <p:nvPr/>
        </p:nvSpPr>
        <p:spPr>
          <a:xfrm>
            <a:off x="6012160" y="3370154"/>
            <a:ext cx="360040" cy="418886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07504" y="116633"/>
          <a:ext cx="8928992" cy="6546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568"/>
                <a:gridCol w="3816424"/>
              </a:tblGrid>
              <a:tr h="43204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b="1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66974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Климат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Др. Греция и Др. Рим - «морские цивилизации»: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1" i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Балканский (Греция),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Апеннинский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(Др.Рим) полуострова;</a:t>
                      </a:r>
                      <a:endParaRPr lang="ru-RU" sz="2400" b="0" i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море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–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богатство </a:t>
                      </a:r>
                      <a:r>
                        <a:rPr lang="ru-RU" sz="24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(питание,</a:t>
                      </a:r>
                      <a:r>
                        <a:rPr lang="ru-RU" sz="2400" b="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торговля);</a:t>
                      </a:r>
                      <a:endParaRPr lang="ru-RU" sz="24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горные цепи → изолированные долины с выходом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к морю;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климат мягкий, морской, с достаточными осадками;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плодородных земель (равнин)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мало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(невозможно вырастить 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всё</a:t>
                      </a:r>
                      <a:r>
                        <a:rPr lang="ru-RU" sz="240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необходимое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7650" name="Picture 2" descr="http://wallpaper.getwall.ru/22/preview/82132.jpg"/>
          <p:cNvPicPr>
            <a:picLocks noChangeAspect="1" noChangeArrowheads="1"/>
          </p:cNvPicPr>
          <p:nvPr/>
        </p:nvPicPr>
        <p:blipFill>
          <a:blip r:embed="rId3" cstate="print"/>
          <a:srcRect l="13367"/>
          <a:stretch>
            <a:fillRect/>
          </a:stretch>
        </p:blipFill>
        <p:spPr bwMode="auto">
          <a:xfrm>
            <a:off x="179512" y="1772816"/>
            <a:ext cx="4968552" cy="37058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7649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7505" y="116632"/>
          <a:ext cx="8928992" cy="66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3"/>
                <a:gridCol w="2808313"/>
                <a:gridCol w="4464496"/>
              </a:tblGrid>
              <a:tr h="603274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1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997126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Хозяйство</a:t>
                      </a: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С/</a:t>
                      </a:r>
                      <a:r>
                        <a:rPr lang="ru-RU" sz="2400" b="1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Средиземноморская триада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(зерновые, виноград, маслины) без искусственного орошения.</a:t>
                      </a:r>
                    </a:p>
                    <a:p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Невозможность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везде производить все необходимое →  развитие 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товарного производства 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 рыночных отношений, регулируемых гражданским правом.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Отсутствие необходимости коллективного труда → формированию </a:t>
                      </a:r>
                      <a:r>
                        <a:rPr lang="ru-RU" sz="24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частной собственности.</a:t>
                      </a:r>
                      <a:endParaRPr lang="ru-RU" sz="2400" b="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802165">
                <a:tc gridSpan="2">
                  <a:txBody>
                    <a:bodyPr/>
                    <a:lstStyle/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1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28" name="Picture 4" descr="http://fb.ru/misc/i/gallery/31656/1036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789040"/>
            <a:ext cx="4320480" cy="2880320"/>
          </a:xfrm>
          <a:prstGeom prst="rect">
            <a:avLst/>
          </a:prstGeom>
          <a:noFill/>
        </p:spPr>
      </p:pic>
      <p:pic>
        <p:nvPicPr>
          <p:cNvPr id="1030" name="Picture 6" descr="http://www.best-gardens.ru/wp-content/uploads/2014/07/%D0%A1%D0%B1%D0%BE%D1%80-%D1%83%D1%80%D0%BE%D0%B6%D0%B0%D1%8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3789040"/>
            <a:ext cx="4320480" cy="28803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42844" y="142852"/>
          <a:ext cx="8821644" cy="661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132"/>
                <a:gridCol w="4608512"/>
              </a:tblGrid>
              <a:tr h="52273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b="1" i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67068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Политическая система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Заложены 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основы: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демократии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– власти народа (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 Др. Греции</a:t>
                      </a:r>
                      <a:r>
                        <a:rPr lang="ru-RU" sz="240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),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республиканской формы 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правления (в Др. Риме); развиваются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монархия,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личная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диктатура, олигархия;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разделения властей 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(законодательной, исполнительной и судебной), суда присяжных;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i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правового государства,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гражданского общества.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Впервые появляются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политические партии.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b="1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Принцип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выборности</a:t>
                      </a:r>
                      <a:r>
                        <a:rPr lang="ru-RU" sz="2400" b="0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многих </a:t>
                      </a:r>
                      <a:r>
                        <a:rPr lang="ru-RU" sz="2400" b="1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должностных лиц.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1800">
                <a:tc>
                  <a:txBody>
                    <a:bodyPr/>
                    <a:lstStyle/>
                    <a:p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http://hist-world.com/images/istoriya-drevnego-mira/3/narodnoe-sobranie-v-afinah.jpg"/>
          <p:cNvPicPr>
            <a:picLocks noChangeAspect="1" noChangeArrowheads="1"/>
          </p:cNvPicPr>
          <p:nvPr/>
        </p:nvPicPr>
        <p:blipFill>
          <a:blip r:embed="rId3" cstate="print"/>
          <a:srcRect t="2439"/>
          <a:stretch>
            <a:fillRect/>
          </a:stretch>
        </p:blipFill>
        <p:spPr bwMode="auto">
          <a:xfrm>
            <a:off x="251520" y="1196753"/>
            <a:ext cx="4059223" cy="2520280"/>
          </a:xfrm>
          <a:prstGeom prst="rect">
            <a:avLst/>
          </a:prstGeom>
          <a:noFill/>
        </p:spPr>
      </p:pic>
      <p:pic>
        <p:nvPicPr>
          <p:cNvPr id="24578" name="Picture 2" descr="https://www.q-files.com/images/pages/galleries/2043/p1b91i7a03ik41q94plbb0n1t4lk.jpg"/>
          <p:cNvPicPr>
            <a:picLocks noChangeAspect="1" noChangeArrowheads="1"/>
          </p:cNvPicPr>
          <p:nvPr/>
        </p:nvPicPr>
        <p:blipFill>
          <a:blip r:embed="rId4" cstate="print"/>
          <a:srcRect r="16071" b="6964"/>
          <a:stretch>
            <a:fillRect/>
          </a:stretch>
        </p:blipFill>
        <p:spPr bwMode="auto">
          <a:xfrm>
            <a:off x="251520" y="3861048"/>
            <a:ext cx="3960440" cy="27566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42844" y="116632"/>
          <a:ext cx="8858312" cy="65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3219840"/>
                <a:gridCol w="3781084"/>
              </a:tblGrid>
              <a:tr h="36004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89532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Древняя</a:t>
                      </a:r>
                      <a:r>
                        <a:rPr lang="ru-RU" sz="28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Греция</a:t>
                      </a:r>
                      <a:endParaRPr lang="ru-RU" sz="2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180755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Государство</a:t>
                      </a:r>
                      <a:endParaRPr lang="ru-RU" sz="24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Полисы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– города–государства,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выросшие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из земледельческой общины</a:t>
                      </a:r>
                      <a:r>
                        <a:rPr lang="ru-RU" sz="24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ru-RU" sz="2400" b="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Крупные полисы постоянно</a:t>
                      </a:r>
                      <a:r>
                        <a:rPr lang="ru-RU" sz="240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соперничали (войны).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08631">
                <a:tc gridSpan="2">
                  <a:txBody>
                    <a:bodyPr/>
                    <a:lstStyle/>
                    <a:p>
                      <a:pPr algn="ctr"/>
                      <a:r>
                        <a:rPr lang="ru-RU" sz="28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Афины</a:t>
                      </a:r>
                      <a:endParaRPr lang="ru-RU" sz="2800" b="1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24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Спарта</a:t>
                      </a:r>
                      <a:endParaRPr lang="ru-RU" sz="2800" b="1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7017">
                <a:tc gridSpan="2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Демократия, с разделением властей.</a:t>
                      </a:r>
                      <a:r>
                        <a:rPr lang="ru-RU" sz="2400" i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2400" u="none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lvl="0">
                        <a:defRPr/>
                      </a:pPr>
                      <a:r>
                        <a:rPr lang="ru-RU" sz="2400" b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Законодательная:</a:t>
                      </a:r>
                    </a:p>
                    <a:p>
                      <a:pPr lvl="0">
                        <a:defRPr/>
                      </a:pPr>
                      <a:r>
                        <a:rPr lang="ru-RU" sz="2400" b="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Народное собрание (все граждане) – утверждало законы, подготовленные Советом старейшин (ареопаг). </a:t>
                      </a:r>
                    </a:p>
                    <a:p>
                      <a:pPr lvl="0">
                        <a:defRPr/>
                      </a:pPr>
                      <a:r>
                        <a:rPr lang="ru-RU" sz="2400" b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Исполнительная власть</a:t>
                      </a:r>
                      <a:r>
                        <a:rPr lang="ru-RU" sz="240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 </a:t>
                      </a:r>
                      <a:r>
                        <a:rPr lang="ru-RU" sz="2400" b="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архонты, стратеги переизбирались ежегодно.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Судебная:</a:t>
                      </a:r>
                      <a:r>
                        <a:rPr lang="ru-RU" sz="2400" b="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впервые </a:t>
                      </a:r>
                      <a:r>
                        <a:rPr lang="ru-RU" sz="2400" b="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суд присяжных. </a:t>
                      </a:r>
                      <a:r>
                        <a:rPr lang="ru-RU" sz="2400" i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Все</a:t>
                      </a:r>
                      <a:r>
                        <a:rPr lang="ru-RU" sz="2400" i="1" u="none" baseline="0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г</a:t>
                      </a:r>
                      <a:r>
                        <a:rPr lang="ru-RU" sz="2400" i="1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раждане равны перед законом.</a:t>
                      </a:r>
                      <a:r>
                        <a:rPr lang="ru-RU" sz="2400" u="none" dirty="0" smtClean="0">
                          <a:solidFill>
                            <a:prstClr val="black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Олигархия.</a:t>
                      </a:r>
                      <a:endParaRPr lang="ru-RU" sz="2400" b="1" u="none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/>
                      </a:pP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Два наследственных царя </a:t>
                      </a:r>
                      <a:r>
                        <a:rPr lang="ru-RU" sz="2400" i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(военный и гражданский);</a:t>
                      </a:r>
                    </a:p>
                    <a:p>
                      <a:pPr>
                        <a:defRPr/>
                      </a:pP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Совет старейшин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 - </a:t>
                      </a:r>
                    </a:p>
                    <a:p>
                      <a:pPr>
                        <a:defRPr/>
                      </a:pP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все вопросы жизни полиса. </a:t>
                      </a:r>
                    </a:p>
                    <a:p>
                      <a:pPr>
                        <a:defRPr/>
                      </a:pP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Народное собрание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- верховный </a:t>
                      </a:r>
                      <a:b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орган (формально), </a:t>
                      </a:r>
                      <a:r>
                        <a:rPr lang="ru-RU" sz="2400" i="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утверждало решения</a:t>
                      </a:r>
                      <a:r>
                        <a:rPr lang="ru-RU" sz="2400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i="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Совета.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79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https://ds02.infourok.ru/uploads/ex/0b9c/00004633-568ab6b9/img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723" y="260649"/>
            <a:ext cx="8544750" cy="6336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42844" y="142853"/>
          <a:ext cx="8858312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30"/>
                <a:gridCol w="6970482"/>
              </a:tblGrid>
              <a:tr h="35718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717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Древний</a:t>
                      </a:r>
                      <a:r>
                        <a:rPr lang="ru-RU" sz="2800" b="1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Рим</a:t>
                      </a:r>
                      <a:endParaRPr lang="ru-RU" sz="2800" b="1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83202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Государство</a:t>
                      </a:r>
                      <a:endParaRPr lang="ru-RU" sz="24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Законодательная власть:  Народное собрание. </a:t>
                      </a:r>
                      <a:endParaRPr lang="ru-RU" sz="2400" b="0" i="0" u="none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  <a:p>
                      <a:r>
                        <a:rPr lang="ru-RU" sz="2400" b="1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Сенат </a:t>
                      </a:r>
                      <a:r>
                        <a:rPr lang="ru-RU" sz="2400" b="0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- в</a:t>
                      </a:r>
                      <a:r>
                        <a:rPr lang="ru-RU" sz="2400" b="0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ысший орган (100 старейшин </a:t>
                      </a:r>
                      <a:r>
                        <a:rPr lang="ru-RU" sz="2400" b="0" i="1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родов – основателей Рима (</a:t>
                      </a:r>
                      <a:r>
                        <a:rPr lang="ru-RU" sz="2400" b="0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их потомки – </a:t>
                      </a:r>
                      <a:r>
                        <a:rPr lang="ru-RU" sz="2400" b="1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патриции.</a:t>
                      </a:r>
                    </a:p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Исполнительная власть: </a:t>
                      </a:r>
                      <a:r>
                        <a:rPr lang="ru-RU" sz="2400" b="0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избираемый </a:t>
                      </a:r>
                      <a:r>
                        <a:rPr lang="ru-RU" sz="2400" b="1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царь</a:t>
                      </a:r>
                      <a:endParaRPr lang="ru-RU" sz="2400" b="0" i="0" u="none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3635">
                <a:tc>
                  <a:txBody>
                    <a:bodyPr/>
                    <a:lstStyle/>
                    <a:p>
                      <a:r>
                        <a:rPr lang="ru-RU" sz="2400" b="1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Царский период </a:t>
                      </a:r>
                    </a:p>
                    <a:p>
                      <a:r>
                        <a:rPr lang="ru-RU" sz="2400" b="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753 г.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–</a:t>
                      </a:r>
                      <a:r>
                        <a:rPr lang="en-US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в.до н.э.</a:t>
                      </a:r>
                      <a:r>
                        <a:rPr lang="ru-RU" sz="2400" b="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24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775619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Период республики </a:t>
                      </a:r>
                    </a:p>
                    <a:p>
                      <a:r>
                        <a:rPr lang="ru-RU" sz="2400" b="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en-US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 вв. до н.э.)</a:t>
                      </a:r>
                      <a:endParaRPr lang="ru-RU" sz="24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Законодательная: </a:t>
                      </a:r>
                      <a:r>
                        <a:rPr lang="ru-RU" sz="2400" b="0" i="0" u="non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Народное собрание +</a:t>
                      </a:r>
                      <a:r>
                        <a:rPr lang="ru-RU" sz="2400" b="0" i="0" u="none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Сенат.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Исполнительная: </a:t>
                      </a:r>
                      <a:r>
                        <a:rPr lang="ru-RU" sz="2400" b="1" i="0" u="none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 консула </a:t>
                      </a:r>
                      <a:r>
                        <a:rPr lang="ru-RU" sz="2400" b="0" i="0" u="none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(избирались Сенатом из патрициев на 1 год) - в</a:t>
                      </a:r>
                      <a:r>
                        <a:rPr lang="ru-RU" sz="2400" b="0" i="0" u="none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ерховная</a:t>
                      </a:r>
                      <a:r>
                        <a:rPr lang="ru-RU" sz="2400" b="0" i="0" u="none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власть.</a:t>
                      </a:r>
                    </a:p>
                    <a:p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2 народных трибуна </a:t>
                      </a:r>
                      <a:r>
                        <a:rPr lang="ru-RU" sz="2400" i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(интересы плебеев в Сенате)</a:t>
                      </a: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Цензоры</a:t>
                      </a:r>
                      <a:r>
                        <a:rPr lang="ru-RU" sz="2400" i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 -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функции контроля.</a:t>
                      </a:r>
                    </a:p>
                    <a:p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Квесторы</a:t>
                      </a:r>
                      <a:r>
                        <a:rPr lang="ru-RU" sz="2400" i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 –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надзор финансов.</a:t>
                      </a: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Диктатор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(при угрозе Риму - избирался  или назначался Сенатом на 6 месяцев) - вся власть.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Судебная: Преторы </a:t>
                      </a:r>
                      <a:r>
                        <a:rPr lang="ru-RU" sz="2400" i="1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2400" u="none" dirty="0" smtClean="0">
                          <a:latin typeface="Times New Roman" pitchFamily="18" charset="0"/>
                          <a:cs typeface="Times New Roman" pitchFamily="18" charset="0"/>
                        </a:rPr>
                        <a:t>судьи: надзор за порядком.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42844" y="142852"/>
          <a:ext cx="8893652" cy="66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5180"/>
                <a:gridCol w="4248472"/>
              </a:tblGrid>
              <a:tr h="47783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ru-RU" sz="2400" b="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0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Древний</a:t>
                      </a:r>
                      <a:r>
                        <a:rPr lang="ru-RU" sz="2800" b="1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 Рим</a:t>
                      </a:r>
                      <a:endParaRPr lang="ru-RU" sz="28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67717">
                <a:tc>
                  <a:txBody>
                    <a:bodyPr/>
                    <a:lstStyle/>
                    <a:p>
                      <a:r>
                        <a:rPr lang="ru-RU" sz="2400" b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Государство</a:t>
                      </a:r>
                      <a:endParaRPr lang="ru-RU" sz="24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Империя с элементами военной деспотии:</a:t>
                      </a:r>
                      <a:endParaRPr lang="ru-RU" sz="2400" b="1" i="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Диктатура полководцев</a:t>
                      </a:r>
                      <a:r>
                        <a:rPr lang="ru-RU" sz="24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→ установление империи</a:t>
                      </a:r>
                      <a:r>
                        <a:rPr lang="ru-RU" sz="24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Провинции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завоеванные территории управлялись (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исполнительная власть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):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наместниками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(командовали войсками, собирали 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налоги, ведали администрацией); 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прокураторами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– представителями императора (контролировали наместников).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642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Период империи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(р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убеж 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 в. до н.э./</a:t>
                      </a: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в. н.э. – 476 г. н.э.)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4" descr="http://aoe-3.ucoz.ru/_fr/9/47103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2924944"/>
            <a:ext cx="4464595" cy="280831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51520" y="5949280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Сенат в Др. Риме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4282" y="214291"/>
          <a:ext cx="8715436" cy="6455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686"/>
                <a:gridCol w="4645750"/>
              </a:tblGrid>
              <a:tr h="55361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86715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 структура 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Определяющий фактор –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гражданство.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52989">
                <a:tc vMerge="1">
                  <a:txBody>
                    <a:bodyPr/>
                    <a:lstStyle/>
                    <a:p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Граждане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(Др. Греция)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патриции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(Др. Рим):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свободные и владеющие имуществом общинники;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земледельцы,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участники управления государства (Народного собрания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), могли избираться, выступать в суде, быть воинами.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9458" name="Picture 2" descr="http://www.crystalinks.com/RomanSociety.jpg"/>
          <p:cNvPicPr>
            <a:picLocks noChangeAspect="1" noChangeArrowheads="1"/>
          </p:cNvPicPr>
          <p:nvPr/>
        </p:nvPicPr>
        <p:blipFill>
          <a:blip r:embed="rId3" cstate="print"/>
          <a:srcRect l="1339" t="4796" r="70552" b="5675"/>
          <a:stretch>
            <a:fillRect/>
          </a:stretch>
        </p:blipFill>
        <p:spPr bwMode="auto">
          <a:xfrm>
            <a:off x="395536" y="1268759"/>
            <a:ext cx="3744415" cy="522657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4282" y="214291"/>
          <a:ext cx="8715436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7678"/>
                <a:gridCol w="4717758"/>
              </a:tblGrid>
              <a:tr h="56068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3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 структура 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Неграждане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Метеки (Др. Греция)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 плебеи (Др. Рим):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свободные люди – переселенцы, ремесленники и торговцы,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платили налоги,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служили в армии,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не могли участвовать в политической жизни, владеть землей и домами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Arial Unicode MS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Проблема: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конфликт граждан и </a:t>
                      </a:r>
                      <a:r>
                        <a:rPr lang="ru-RU" sz="24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неграждан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; свободных и рабов.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b="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ru-RU" sz="24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2" descr="http://www.crystalinks.com/RomanSociety.jpg"/>
          <p:cNvPicPr>
            <a:picLocks noChangeAspect="1" noChangeArrowheads="1"/>
          </p:cNvPicPr>
          <p:nvPr/>
        </p:nvPicPr>
        <p:blipFill>
          <a:blip r:embed="rId3" cstate="print"/>
          <a:srcRect l="69522" t="13882" r="2156" b="2691"/>
          <a:stretch>
            <a:fillRect/>
          </a:stretch>
        </p:blipFill>
        <p:spPr bwMode="auto">
          <a:xfrm>
            <a:off x="323528" y="1268760"/>
            <a:ext cx="3790460" cy="53285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4282" y="214290"/>
          <a:ext cx="8715436" cy="655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26"/>
                <a:gridCol w="4285710"/>
              </a:tblGrid>
              <a:tr h="6071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479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Социальная структура 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Рабы: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 низшая социальная группа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(=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орудиям ,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скоту</a:t>
                      </a:r>
                      <a:r>
                        <a:rPr lang="ru-RU" sz="240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потере имени, прозвище от хозяина).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выполняли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самые тяжелые работы</a:t>
                      </a:r>
                      <a:r>
                        <a:rPr lang="ru-RU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 в мастерских, рудниках, каменоломнях.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Рабы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основа 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хозяйства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(из-за постоянных войн).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Рабство -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массовое и жестокое:</a:t>
                      </a:r>
                    </a:p>
                    <a:p>
                      <a:r>
                        <a:rPr lang="ru-RU" sz="2400" b="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● </a:t>
                      </a: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клеймление</a:t>
                      </a:r>
                      <a:r>
                        <a:rPr lang="ru-RU" sz="24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 как скот (Др. Рим);</a:t>
                      </a:r>
                    </a:p>
                    <a:p>
                      <a:r>
                        <a:rPr lang="ru-RU" sz="2400" b="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●</a:t>
                      </a:r>
                      <a:r>
                        <a:rPr lang="ru-RU" sz="2400" b="0" i="1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i="0" dirty="0" smtClean="0">
                          <a:latin typeface="Times New Roman" pitchFamily="18" charset="0"/>
                          <a:cs typeface="Times New Roman" pitchFamily="18" charset="0"/>
                        </a:rPr>
                        <a:t>безнаказанность убийства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(Спарта: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убийства </a:t>
                      </a:r>
                      <a:r>
                        <a:rPr lang="ru-RU" sz="2400" b="1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илотов</a:t>
                      </a:r>
                      <a:r>
                        <a:rPr lang="ru-RU" sz="2400" i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; </a:t>
                      </a:r>
                      <a:r>
                        <a:rPr lang="ru-RU" sz="2400" i="0" dirty="0" smtClean="0">
                          <a:latin typeface="Times New Roman" pitchFamily="18" charset="0"/>
                          <a:cs typeface="Times New Roman" pitchFamily="18" charset="0"/>
                        </a:rPr>
                        <a:t>Рим: сражения гладиаторов).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364" name="Picture 4" descr="https://s2.stc.all.kpcdn.net/best/kazan/sovest_kazan/images/tild3832-3831-4164-a637-336137343638__italy4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484784"/>
            <a:ext cx="4032448" cy="2232248"/>
          </a:xfrm>
          <a:prstGeom prst="rect">
            <a:avLst/>
          </a:prstGeom>
          <a:noFill/>
        </p:spPr>
      </p:pic>
      <p:pic>
        <p:nvPicPr>
          <p:cNvPr id="15366" name="Picture 6" descr="http://i.pokeroff.ru/uploads/post/650987-ful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5" y="3717032"/>
            <a:ext cx="4212467" cy="28083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4282" y="214290"/>
          <a:ext cx="8715436" cy="646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24"/>
                <a:gridCol w="5286412"/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Особенности цивилизаций античности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Духовная культура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Богиня</a:t>
                      </a:r>
                      <a:r>
                        <a:rPr lang="ru-RU" sz="2000" b="1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Артемида</a:t>
                      </a:r>
                      <a:endParaRPr lang="ru-RU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Представления о высших силах: 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мифология,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языческая религия 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политеизм </a:t>
                      </a:r>
                      <a:r>
                        <a:rPr lang="ru-RU" sz="2400" b="0" i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(с богами можно договориться/ бороться).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Культура обращена к человеку 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(совершенство физическое и духовное).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Общественное сознание: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● дух соревнования, творчества,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● стремление изменить жизнь к лучшему,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u="non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● бросить вызов судьбе.</a:t>
                      </a:r>
                      <a:r>
                        <a:rPr lang="ru-RU" sz="2400" b="0" i="1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b="0" i="1" u="none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– </a:t>
                      </a:r>
                      <a:r>
                        <a:rPr lang="ru-RU" sz="2400" b="0" i="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Античная цивилизация  - прообраз будущей европейской цивилизации.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5538" name="Picture 2" descr="http://www.playing-field.ru/img/2015/052000/482467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214422"/>
            <a:ext cx="3286148" cy="50720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moldovenii.md/resources/files/images/istoria/istoria_antica/Primele-civilizatii_ru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60648"/>
            <a:ext cx="8572560" cy="6311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www.moldovenii.md/resources/files/images/istoria/istoria_antica/Primele-civilizatii_ru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32656"/>
            <a:ext cx="8572560" cy="62396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2" descr="http://history-gymn9.ucoz.ru/_ph/11/900552866.gif"/>
          <p:cNvPicPr>
            <a:picLocks noChangeAspect="1" noChangeArrowheads="1"/>
          </p:cNvPicPr>
          <p:nvPr/>
        </p:nvPicPr>
        <p:blipFill>
          <a:blip r:embed="rId3" cstate="print"/>
          <a:srcRect l="1963" t="2751" r="1963" b="2751"/>
          <a:stretch>
            <a:fillRect/>
          </a:stretch>
        </p:blipFill>
        <p:spPr bwMode="auto">
          <a:xfrm>
            <a:off x="179512" y="188640"/>
            <a:ext cx="8784976" cy="6480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historical-persons.ru/img/makedon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44568" cy="64807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40" name="Picture 4" descr="http://lesson-history.narod.ru/map/pun-wa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175" y="260648"/>
            <a:ext cx="8792313" cy="64078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im-tub-ap-ru.yandex.net/pic/5d3a2421f8befd7f9d459633e56afedf/podelise.ru/tw_files2/urls_408/2/d-1750/img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767" t="2310" r="4127" b="3454"/>
          <a:stretch/>
        </p:blipFill>
        <p:spPr bwMode="auto">
          <a:xfrm>
            <a:off x="323528" y="260648"/>
            <a:ext cx="8519856" cy="62646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1839</Words>
  <Application>Microsoft Office PowerPoint</Application>
  <PresentationFormat>Экран (4:3)</PresentationFormat>
  <Paragraphs>408</Paragraphs>
  <Slides>31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/>
  <cp:lastModifiedBy/>
  <cp:revision>1129</cp:revision>
  <dcterms:modified xsi:type="dcterms:W3CDTF">2020-02-28T17:35:20Z</dcterms:modified>
</cp:coreProperties>
</file>