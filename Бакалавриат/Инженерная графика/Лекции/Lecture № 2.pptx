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4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0" y="-10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BDA1D-B2C4-4164-8EF0-17B106367BCB}" type="datetimeFigureOut">
              <a:rPr lang="ru-RU" smtClean="0"/>
              <a:pPr/>
              <a:t>14.09.2023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E166F-067D-49F1-9B84-55EAB4E0EF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685800" y="1268761"/>
            <a:ext cx="7772400" cy="187220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Начертательная геометрия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b="1" dirty="0">
                <a:latin typeface="Times New Roman" pitchFamily="18" charset="0"/>
                <a:cs typeface="Times New Roman" pitchFamily="18" charset="0"/>
              </a:rPr>
            </a:br>
            <a:r>
              <a:rPr lang="ru-RU" b="1" dirty="0">
                <a:ln w="0"/>
                <a:latin typeface="Times New Roman" pitchFamily="18" charset="0"/>
                <a:cs typeface="Times New Roman" pitchFamily="18" charset="0"/>
              </a:rPr>
              <a:t>инженерная </a:t>
            </a:r>
            <a:r>
              <a:rPr lang="ru-RU" b="1" dirty="0" smtClean="0">
                <a:ln w="0"/>
                <a:latin typeface="Times New Roman" pitchFamily="18" charset="0"/>
                <a:cs typeface="Times New Roman" pitchFamily="18" charset="0"/>
              </a:rPr>
              <a:t>графика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550912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Лекция 2. Проецирование прямой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3848" y="5805264"/>
            <a:ext cx="5959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Старший преподаватель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Запорожану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Кристина Юрьевна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Проецирование прямой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Положение прямой в пространстве определяется положением двух её точек. Поэтому для построения проекций прямой достаточно построить проекции двух точек, принадлежащих этой прямой, и соединить между собой их одноименные проекции.</a:t>
            </a:r>
          </a:p>
          <a:p>
            <a:pPr algn="just"/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175051" y="3140968"/>
            <a:ext cx="97655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Прямые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>
            <a:stCxn id="10" idx="2"/>
            <a:endCxn id="14" idx="0"/>
          </p:cNvCxnSpPr>
          <p:nvPr/>
        </p:nvCxnSpPr>
        <p:spPr>
          <a:xfrm>
            <a:off x="4663326" y="3510300"/>
            <a:ext cx="1958129" cy="854804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10" idx="2"/>
            <a:endCxn id="13" idx="0"/>
          </p:cNvCxnSpPr>
          <p:nvPr/>
        </p:nvCxnSpPr>
        <p:spPr>
          <a:xfrm flipH="1">
            <a:off x="2767969" y="3510300"/>
            <a:ext cx="1895357" cy="854804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80" y="4365104"/>
            <a:ext cx="215257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Частные положения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80112" y="4365104"/>
            <a:ext cx="2082685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Общего положения</a:t>
            </a:r>
          </a:p>
        </p:txBody>
      </p:sp>
      <p:cxnSp>
        <p:nvCxnSpPr>
          <p:cNvPr id="17" name="Прямая со стрелкой 16"/>
          <p:cNvCxnSpPr>
            <a:stCxn id="13" idx="2"/>
            <a:endCxn id="20" idx="0"/>
          </p:cNvCxnSpPr>
          <p:nvPr/>
        </p:nvCxnSpPr>
        <p:spPr>
          <a:xfrm>
            <a:off x="2767969" y="4734436"/>
            <a:ext cx="1420696" cy="854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8" name="Прямая со стрелкой 17"/>
          <p:cNvCxnSpPr>
            <a:stCxn id="13" idx="2"/>
            <a:endCxn id="19" idx="0"/>
          </p:cNvCxnSpPr>
          <p:nvPr/>
        </p:nvCxnSpPr>
        <p:spPr>
          <a:xfrm flipH="1">
            <a:off x="1184374" y="4734436"/>
            <a:ext cx="1583595" cy="8548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19" name="TextBox 18"/>
          <p:cNvSpPr txBox="1"/>
          <p:nvPr/>
        </p:nvSpPr>
        <p:spPr>
          <a:xfrm>
            <a:off x="395536" y="5589240"/>
            <a:ext cx="157767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Линии уровня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15816" y="5589240"/>
            <a:ext cx="254569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Проецирующие прямые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86409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Частные положения прямых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604663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Прямые частного положения параллельны одной или двум плоскостям 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395536" y="1772816"/>
            <a:ext cx="8352928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Прямые линии уровня – прямые, параллельные одной плоскости проекций и наклоненные к двум другим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51920" y="2492896"/>
            <a:ext cx="157767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Линии уровня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Прямая со стрелкой 35"/>
          <p:cNvCxnSpPr>
            <a:stCxn id="35" idx="2"/>
            <a:endCxn id="41" idx="0"/>
          </p:cNvCxnSpPr>
          <p:nvPr/>
        </p:nvCxnSpPr>
        <p:spPr>
          <a:xfrm>
            <a:off x="4640758" y="2862228"/>
            <a:ext cx="3250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35" idx="2"/>
            <a:endCxn id="40" idx="0"/>
          </p:cNvCxnSpPr>
          <p:nvPr/>
        </p:nvCxnSpPr>
        <p:spPr>
          <a:xfrm flipH="1">
            <a:off x="2195736" y="2862228"/>
            <a:ext cx="2445022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3608" y="3284984"/>
            <a:ext cx="2304256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Горизонтальная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параллельная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91880" y="3284984"/>
            <a:ext cx="2304256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Фронтальная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параллельная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ru-RU" sz="16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12160" y="3284984"/>
            <a:ext cx="2304256" cy="86177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Профильная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параллельная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endParaRPr lang="ru-RU" sz="16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0" name="Прямая со стрелкой 49"/>
          <p:cNvCxnSpPr>
            <a:stCxn id="35" idx="2"/>
            <a:endCxn id="49" idx="0"/>
          </p:cNvCxnSpPr>
          <p:nvPr/>
        </p:nvCxnSpPr>
        <p:spPr>
          <a:xfrm>
            <a:off x="4640758" y="2862228"/>
            <a:ext cx="2523530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Рисунок 76"/>
          <p:cNvPicPr/>
          <p:nvPr/>
        </p:nvPicPr>
        <p:blipFill>
          <a:blip r:embed="rId2" cstate="print"/>
          <a:srcRect r="67052"/>
          <a:stretch>
            <a:fillRect/>
          </a:stretch>
        </p:blipFill>
        <p:spPr bwMode="auto">
          <a:xfrm>
            <a:off x="1187624" y="4365104"/>
            <a:ext cx="2016224" cy="214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4" name="Рисунок 83"/>
          <p:cNvPicPr/>
          <p:nvPr/>
        </p:nvPicPr>
        <p:blipFill>
          <a:blip r:embed="rId2" cstate="print"/>
          <a:srcRect l="34703" r="35880"/>
          <a:stretch>
            <a:fillRect/>
          </a:stretch>
        </p:blipFill>
        <p:spPr bwMode="auto">
          <a:xfrm>
            <a:off x="3743908" y="4437112"/>
            <a:ext cx="1800200" cy="214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5" name="Рисунок 84"/>
          <p:cNvPicPr/>
          <p:nvPr/>
        </p:nvPicPr>
        <p:blipFill>
          <a:blip r:embed="rId2" cstate="print"/>
          <a:srcRect l="65297"/>
          <a:stretch>
            <a:fillRect/>
          </a:stretch>
        </p:blipFill>
        <p:spPr bwMode="auto">
          <a:xfrm>
            <a:off x="6102467" y="4365104"/>
            <a:ext cx="2123643" cy="2145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404665"/>
            <a:ext cx="8229600" cy="648072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Проецирующие прямые линии – прямые, перпендикулярные к одной плоскости проекций и параллельные двум другим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9952" y="1340768"/>
            <a:ext cx="925254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Прямая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6" idx="2"/>
            <a:endCxn id="22" idx="0"/>
          </p:cNvCxnSpPr>
          <p:nvPr/>
        </p:nvCxnSpPr>
        <p:spPr>
          <a:xfrm>
            <a:off x="4602579" y="1710100"/>
            <a:ext cx="3249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stCxn id="16" idx="2"/>
            <a:endCxn id="21" idx="0"/>
          </p:cNvCxnSpPr>
          <p:nvPr/>
        </p:nvCxnSpPr>
        <p:spPr>
          <a:xfrm flipH="1">
            <a:off x="2157556" y="1710100"/>
            <a:ext cx="2445023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428" y="2132856"/>
            <a:ext cx="2304256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Горизонтально-проецирующая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перпендикулярная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3700" y="2132856"/>
            <a:ext cx="2304256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Фронтально-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проецирующая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перпендикулярная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ru-RU" sz="16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4771" y="2132856"/>
            <a:ext cx="2304256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Профильно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проецирующая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Прямая, перпендикулярная плоскости 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6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3</a:t>
            </a:r>
            <a:endParaRPr lang="ru-RU" sz="16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4" name="Прямая со стрелкой 23"/>
          <p:cNvCxnSpPr>
            <a:stCxn id="16" idx="2"/>
            <a:endCxn id="23" idx="0"/>
          </p:cNvCxnSpPr>
          <p:nvPr/>
        </p:nvCxnSpPr>
        <p:spPr>
          <a:xfrm>
            <a:off x="4602579" y="1710100"/>
            <a:ext cx="2524320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Рисунок 24"/>
          <p:cNvPicPr/>
          <p:nvPr/>
        </p:nvPicPr>
        <p:blipFill>
          <a:blip r:embed="rId2" cstate="print"/>
          <a:srcRect r="67052"/>
          <a:stretch>
            <a:fillRect/>
          </a:stretch>
        </p:blipFill>
        <p:spPr bwMode="auto">
          <a:xfrm>
            <a:off x="1149444" y="4005064"/>
            <a:ext cx="2016224" cy="2180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Рисунок 25"/>
          <p:cNvPicPr/>
          <p:nvPr/>
        </p:nvPicPr>
        <p:blipFill>
          <a:blip r:embed="rId2" cstate="print"/>
          <a:srcRect l="31173" r="33526"/>
          <a:stretch>
            <a:fillRect/>
          </a:stretch>
        </p:blipFill>
        <p:spPr bwMode="auto">
          <a:xfrm>
            <a:off x="3525708" y="4005064"/>
            <a:ext cx="2160240" cy="2180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Рисунок 26"/>
          <p:cNvPicPr/>
          <p:nvPr/>
        </p:nvPicPr>
        <p:blipFill>
          <a:blip r:embed="rId2" cstate="print"/>
          <a:srcRect l="66474"/>
          <a:stretch>
            <a:fillRect/>
          </a:stretch>
        </p:blipFill>
        <p:spPr bwMode="auto">
          <a:xfrm>
            <a:off x="6101082" y="4005064"/>
            <a:ext cx="2051635" cy="2180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4000" b="1" dirty="0" smtClean="0">
                <a:latin typeface="Times New Roman" pitchFamily="18" charset="0"/>
                <a:cs typeface="Times New Roman" pitchFamily="18" charset="0"/>
              </a:rPr>
              <a:t>2. Прямые общего положения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32048"/>
          </a:xfrm>
        </p:spPr>
        <p:txBody>
          <a:bodyPr>
            <a:noAutofit/>
          </a:bodyPr>
          <a:lstStyle/>
          <a:p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Прямая, не параллельная ни одной из основных плоскостей проекций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1844824"/>
            <a:ext cx="8208912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плоскости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отрезок прямой общего положения проецируется с искажением, так как прямая наклонена к этим плоскостям проекций. Углы наклона прямой общего положения к плоскостям проекций на чертеже также искажены.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1880" y="3573016"/>
            <a:ext cx="23717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82154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Определение истинной величины отрезка прямой общего положения и углов его наклона к основным плоскостям проекций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1168971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на чертеже отрезок прямой проецируется с искажением, то для определения его истинной величины можно использовать дополнительную плоскость проекций, параллельную заданному отрезку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356992"/>
            <a:ext cx="2319337" cy="252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72520" y="3356992"/>
            <a:ext cx="2443471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 descr="Натуральная величина отрезка - YouTube"/>
          <p:cNvPicPr>
            <a:picLocks noChangeAspect="1" noChangeArrowheads="1"/>
          </p:cNvPicPr>
          <p:nvPr/>
        </p:nvPicPr>
        <p:blipFill>
          <a:blip r:embed="rId4" cstate="print"/>
          <a:srcRect l="32680" t="3487" r="32473" b="23014"/>
          <a:stretch>
            <a:fillRect/>
          </a:stretch>
        </p:blipFill>
        <p:spPr bwMode="auto">
          <a:xfrm>
            <a:off x="6300192" y="3284984"/>
            <a:ext cx="2245621" cy="26642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Взаимное положение прямой и точки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1277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Точка принадлежит прямой линии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если все ее проекции расположены на одноименных проекциях прямой.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Точка, расположенная вне прямой линии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может конкурировать с точкой, принадлежащей прямой.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Точка, расположенная вне прямой линии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может не конкурировать с точкой, принадлежащей прямой.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005064"/>
            <a:ext cx="2516396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Рисунок 12"/>
          <p:cNvPicPr/>
          <p:nvPr/>
        </p:nvPicPr>
        <p:blipFill>
          <a:blip r:embed="rId3" cstate="print"/>
          <a:srcRect l="48822"/>
          <a:stretch>
            <a:fillRect/>
          </a:stretch>
        </p:blipFill>
        <p:spPr bwMode="auto">
          <a:xfrm>
            <a:off x="2699792" y="3717032"/>
            <a:ext cx="2120151" cy="2520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Рисунок 1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4725144"/>
            <a:ext cx="2422326" cy="1979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5004048" y="3501008"/>
            <a:ext cx="3635895" cy="116955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Обратная задача - построение прямой линии, проходящей через заданную точку. </a:t>
            </a:r>
          </a:p>
          <a:p>
            <a:pPr algn="just"/>
            <a:r>
              <a:rPr lang="ru-RU" sz="1400" b="1" i="1" dirty="0" smtClean="0">
                <a:latin typeface="Times New Roman" pitchFamily="18" charset="0"/>
                <a:cs typeface="Times New Roman" pitchFamily="18" charset="0"/>
              </a:rPr>
              <a:t>Если прямая проходит через точку, то проекции прямой линии проходят через одноименные проекции точки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7809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5. Деление отрезка прямой в заданном отношении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1484784"/>
            <a:ext cx="820891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/>
                <a:ea typeface="Calibri"/>
              </a:rPr>
              <a:t>Параллельные проекции имеют следующее свойство: </a:t>
            </a:r>
            <a:r>
              <a:rPr lang="ru-RU" b="1" i="1" dirty="0" smtClean="0">
                <a:latin typeface="Times New Roman"/>
                <a:ea typeface="Calibri"/>
              </a:rPr>
              <a:t>отношение отрезков прямой линии </a:t>
            </a:r>
            <a:r>
              <a:rPr lang="ru-RU" b="1" i="1" dirty="0" err="1" smtClean="0">
                <a:latin typeface="Times New Roman"/>
                <a:ea typeface="Calibri"/>
              </a:rPr>
              <a:t>равноотношению</a:t>
            </a:r>
            <a:r>
              <a:rPr lang="ru-RU" b="1" i="1" dirty="0" smtClean="0">
                <a:latin typeface="Times New Roman"/>
                <a:ea typeface="Calibri"/>
              </a:rPr>
              <a:t> их проекций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2" cstate="print"/>
          <a:srcRect l="57555"/>
          <a:stretch>
            <a:fillRect/>
          </a:stretch>
        </p:blipFill>
        <p:spPr bwMode="auto">
          <a:xfrm>
            <a:off x="3347864" y="2564904"/>
            <a:ext cx="2427357" cy="2405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539552" y="5373216"/>
            <a:ext cx="8136904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Calibri"/>
              </a:rPr>
              <a:t>Отрезок прямой линии можно разделить в заданном отношении, разделив в том же отношении любую его проекцию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6. Взаимное положение двух прямых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9719" y="1340768"/>
            <a:ext cx="378456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Взаимное положение двух прямых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>
            <a:stCxn id="8" idx="2"/>
            <a:endCxn id="12" idx="0"/>
          </p:cNvCxnSpPr>
          <p:nvPr/>
        </p:nvCxnSpPr>
        <p:spPr>
          <a:xfrm flipH="1">
            <a:off x="4556272" y="1710100"/>
            <a:ext cx="15728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>
            <a:stCxn id="8" idx="2"/>
            <a:endCxn id="11" idx="0"/>
          </p:cNvCxnSpPr>
          <p:nvPr/>
        </p:nvCxnSpPr>
        <p:spPr>
          <a:xfrm flipH="1">
            <a:off x="1959667" y="1710100"/>
            <a:ext cx="2612333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7539" y="2132856"/>
            <a:ext cx="2304256" cy="28623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Пересекающиеся прямые 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У двух пересекающихся прямых на чертеже пересекаются одноименные проекции и точки их пересечения лежат на одной и той же линии проекционной связи для каждой пары одноименных проекций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04144" y="2132856"/>
            <a:ext cx="2304256" cy="18774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Параллельные прямые 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Две прямые параллельны друг другу, и их одноименные проекции также параллельны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750" y="2132856"/>
            <a:ext cx="2304256" cy="16312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Скрещивающиеся прямые </a:t>
            </a:r>
          </a:p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прямые, не параллельные друг другу и не пересекающиеся</a:t>
            </a:r>
          </a:p>
        </p:txBody>
      </p:sp>
      <p:cxnSp>
        <p:nvCxnSpPr>
          <p:cNvPr id="14" name="Прямая со стрелкой 13"/>
          <p:cNvCxnSpPr>
            <a:stCxn id="8" idx="2"/>
            <a:endCxn id="13" idx="0"/>
          </p:cNvCxnSpPr>
          <p:nvPr/>
        </p:nvCxnSpPr>
        <p:spPr>
          <a:xfrm>
            <a:off x="4572000" y="1710100"/>
            <a:ext cx="2580878" cy="422756"/>
          </a:xfrm>
          <a:prstGeom prst="straightConnector1">
            <a:avLst/>
          </a:prstGeom>
          <a:ln w="1905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/>
          <p:cNvPicPr/>
          <p:nvPr/>
        </p:nvPicPr>
        <p:blipFill>
          <a:blip r:embed="rId2" cstate="print"/>
          <a:srcRect l="51178" t="18500"/>
          <a:stretch>
            <a:fillRect/>
          </a:stretch>
        </p:blipFill>
        <p:spPr bwMode="auto">
          <a:xfrm>
            <a:off x="467544" y="5157192"/>
            <a:ext cx="2984247" cy="149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0990" y="4149080"/>
            <a:ext cx="2193939" cy="260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Рисунок 23"/>
          <p:cNvPicPr/>
          <p:nvPr/>
        </p:nvPicPr>
        <p:blipFill>
          <a:blip r:embed="rId4" cstate="print"/>
          <a:srcRect l="2666" r="48648"/>
          <a:stretch>
            <a:fillRect/>
          </a:stretch>
        </p:blipFill>
        <p:spPr bwMode="auto">
          <a:xfrm>
            <a:off x="5868144" y="4149080"/>
            <a:ext cx="2592288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 видимости двух прямых линий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0872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 видимости двух прямых линий судят с помощью конкурирующих точек, расположенных на разных прямых, но на одной и той же проецирующей прямой. Видимость для каждой плоскости проекций рассматривают раздельно.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 l="2666" r="48648"/>
          <a:stretch>
            <a:fillRect/>
          </a:stretch>
        </p:blipFill>
        <p:spPr bwMode="auto">
          <a:xfrm>
            <a:off x="3131840" y="3356992"/>
            <a:ext cx="2592288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Нахождение взаимного положения двух прямых</a:t>
            </a:r>
            <a:endParaRPr lang="ru-RU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44825"/>
            <a:ext cx="8712968" cy="108012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Судить о взаимном положении двух прямых можно по двум проекциям, за исключением тех случаев, когда хотя бы одна из прямых параллельна какой-либо плоскости проекций, но задана проекциями на две другие плоскости проекций.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 cstate="print"/>
          <a:srcRect r="54707" b="44963"/>
          <a:stretch>
            <a:fillRect/>
          </a:stretch>
        </p:blipFill>
        <p:spPr bwMode="auto">
          <a:xfrm>
            <a:off x="251520" y="3429000"/>
            <a:ext cx="2267660" cy="273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8308" y="3681028"/>
            <a:ext cx="3006203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2" cstate="print"/>
          <a:srcRect l="21759" t="53777" r="25289" b="893"/>
          <a:stretch>
            <a:fillRect/>
          </a:stretch>
        </p:blipFill>
        <p:spPr bwMode="auto">
          <a:xfrm>
            <a:off x="5903640" y="3501008"/>
            <a:ext cx="3240360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Плоские углы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8072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Углы, образованные двумя пересекающимися прямыми, в общем случае проецируются с искажением. Любой угол, в зависимости от положения его сторон, может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спроецироваться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виде острого или тупого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852936"/>
            <a:ext cx="5256584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797152"/>
            <a:ext cx="5328592" cy="159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652120" y="3861048"/>
            <a:ext cx="3312368" cy="147732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dirty="0" smtClean="0"/>
              <a:t>Без искажения плоские углы проецируются в тех случаях, когда обе стороны угла параллельны какой-либо плоскости проекций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Частный случай проецирования прямого угла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110871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Прямой угол ─ плоский угол между двумя взаимно перпендикулярными пересекающимися прямыми линиями. </a:t>
            </a:r>
            <a:r>
              <a:rPr lang="ru-RU" sz="1800" b="1" i="1" dirty="0" smtClean="0">
                <a:latin typeface="Times New Roman" pitchFamily="18" charset="0"/>
                <a:cs typeface="Times New Roman" pitchFamily="18" charset="0"/>
              </a:rPr>
              <a:t>Прямой угол проецируется на плоскость проекций без искажения, если одна сторона его параллельна этой плоскости.</a:t>
            </a: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 l="51642"/>
          <a:stretch>
            <a:fillRect/>
          </a:stretch>
        </p:blipFill>
        <p:spPr bwMode="auto">
          <a:xfrm>
            <a:off x="539552" y="4671625"/>
            <a:ext cx="2123559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 l="44667"/>
          <a:stretch>
            <a:fillRect/>
          </a:stretch>
        </p:blipFill>
        <p:spPr bwMode="auto">
          <a:xfrm>
            <a:off x="6444208" y="4509120"/>
            <a:ext cx="2051635" cy="219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67544" y="2780928"/>
            <a:ext cx="8244408" cy="16312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а) прямая линия общего положения и горизонтальная прямая перпендикулярны, если перпендикулярны их горизонтальные проекции; 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б) прямая общего положения и фронтальная прямая линия перпендикулярны, если перпендикулярны их фронтальные проекции;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в) прямая линия общего положения и профильная прямая перпендикулярны, если перпендикулярны их профильные проекции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 cstate="print"/>
          <a:srcRect l="3884" r="55333"/>
          <a:stretch>
            <a:fillRect/>
          </a:stretch>
        </p:blipFill>
        <p:spPr bwMode="auto">
          <a:xfrm>
            <a:off x="3797576" y="4509120"/>
            <a:ext cx="1512168" cy="2197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Нахождение перпендикулярности прямых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484784"/>
            <a:ext cx="5680462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4149080"/>
            <a:ext cx="545782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ru-RU" sz="4000" b="1" dirty="0">
                <a:latin typeface="Times New Roman" pitchFamily="18" charset="0"/>
                <a:cs typeface="Times New Roman" pitchFamily="18" charset="0"/>
              </a:rPr>
              <a:t>Контрольные вопросы</a:t>
            </a: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5069159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принято обозначать на чертежах прямые линии уровня – горизонтальные, фронтальные или профильные?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 каким основным плоскостям проекций наклонена фронтальная прямая линия?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называют прямые линии, у которых фронтальная проекция параллельна оси ОХ.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расположены проекции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профильно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проецирующей прямой линии?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Если одна проекция прямой линии расположена на оси проекций, то может ли прямая быть прямой линией общего положения?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называют прямую линию, у которой углы наклона к плоскостям проекций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проецируются без искажения?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Могут ли при параллельном прямоугольном проецировании проекция отрезка прямой линии быть больше его действительной величины?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должен быть расположен отрезок, чтобы углы его наклона к плоскостям проекций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проецировались без искажения?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Можно ли по длине горизонтальной и фронтальной проекций отрезка профильной прямой линии определить разные или одинаковые у отрезка углы наклона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  <a:sym typeface="Symbol"/>
              </a:rPr>
              <a:t></a:t>
            </a:r>
            <a:r>
              <a:rPr lang="ru-RU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? </a:t>
            </a:r>
          </a:p>
          <a:p>
            <a:pPr mar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называют прямые линии, у которых отрезки проецируются без искажения на две плоскости проекций?</a:t>
            </a:r>
          </a:p>
          <a:p>
            <a:pPr marL="0" lv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Всегда ли достаточно двух одноименных проекций прямых линий, что судить об их взаимном положении?</a:t>
            </a:r>
          </a:p>
          <a:p>
            <a:pPr marL="0" lv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расположены в пространстве две прямые линии, если их горизонтальные проекции пересекаются, а фронтальные параллельны?</a:t>
            </a:r>
          </a:p>
          <a:p>
            <a:pPr marL="0" lv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 какому признаку проекций двух прямых линий можно утверждать, что они пересекаются?</a:t>
            </a:r>
          </a:p>
          <a:p>
            <a:pPr marL="0" lv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Если пересекаются две одноименные проекции двух прямых линий то как они могут быть расположены относительно друг друга?</a:t>
            </a:r>
          </a:p>
          <a:p>
            <a:pPr marL="0" lvl="0" indent="0" algn="just">
              <a:spcBef>
                <a:spcPts val="0"/>
              </a:spcBef>
              <a:buFont typeface="+mj-lt"/>
              <a:buAutoNum type="arabicPeriod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расположены относительно друг друга две прямые линии, если их горизонтальные проекции параллельны, а фронтальные пересекаются?</a:t>
            </a:r>
          </a:p>
          <a:p>
            <a:pPr marL="0" indent="0">
              <a:spcBef>
                <a:spcPts val="0"/>
              </a:spcBef>
            </a:pPr>
            <a:endParaRPr lang="ru-RU" sz="1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</a:pP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903</Words>
  <Application>Microsoft Office PowerPoint</Application>
  <PresentationFormat>Экран (4:3)</PresentationFormat>
  <Paragraphs>82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Начертательная геометрия  и  инженерная графика</vt:lpstr>
      <vt:lpstr>Проецирование прямой</vt:lpstr>
      <vt:lpstr>1. Частные положения прямых</vt:lpstr>
      <vt:lpstr>Слайд 4</vt:lpstr>
      <vt:lpstr>2. Прямые общего положения</vt:lpstr>
      <vt:lpstr>3. Определение истинной величины отрезка прямой общего положения и углов его наклона к основным плоскостям проекций</vt:lpstr>
      <vt:lpstr>4. Взаимное положение прямой и точки</vt:lpstr>
      <vt:lpstr>5. Деление отрезка прямой в заданном отношении</vt:lpstr>
      <vt:lpstr>6. Взаимное положение двух прямых</vt:lpstr>
      <vt:lpstr>О видимости двух прямых линий</vt:lpstr>
      <vt:lpstr>Нахождение взаимного положения двух прямых</vt:lpstr>
      <vt:lpstr>7. Плоские углы</vt:lpstr>
      <vt:lpstr>Частный случай проецирования прямого угла</vt:lpstr>
      <vt:lpstr>Нахождение перпендикулярности прямых</vt:lpstr>
      <vt:lpstr>Контрольные вопросы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Начертательная геометрия  и  инженерная графика</dc:title>
  <dc:creator/>
  <cp:lastModifiedBy/>
  <cp:revision>53</cp:revision>
  <dcterms:created xsi:type="dcterms:W3CDTF">2023-09-07T07:14:53Z</dcterms:created>
  <dcterms:modified xsi:type="dcterms:W3CDTF">2023-09-14T11:46:46Z</dcterms:modified>
</cp:coreProperties>
</file>