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340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BDA1D-B2C4-4164-8EF0-17B106367BCB}" type="datetimeFigureOut">
              <a:rPr lang="ru-RU" smtClean="0"/>
              <a:pPr/>
              <a:t>08.09.2023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685800" y="1268761"/>
            <a:ext cx="7772400" cy="187220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b="1" dirty="0">
                <a:ln w="0"/>
                <a:latin typeface="Times New Roman" pitchFamily="18" charset="0"/>
                <a:cs typeface="Times New Roman" pitchFamily="18" charset="0"/>
              </a:rPr>
              <a:t>Начертательная геометрия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>
                <a:latin typeface="Times New Roman" pitchFamily="18" charset="0"/>
                <a:cs typeface="Times New Roman" pitchFamily="18" charset="0"/>
              </a:rPr>
            </a:br>
            <a:r>
              <a:rPr lang="ru-RU" b="1" dirty="0">
                <a:ln w="0"/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>
                <a:latin typeface="Times New Roman" pitchFamily="18" charset="0"/>
                <a:cs typeface="Times New Roman" pitchFamily="18" charset="0"/>
              </a:rPr>
            </a:br>
            <a:r>
              <a:rPr lang="ru-RU" b="1" dirty="0">
                <a:ln w="0"/>
                <a:latin typeface="Times New Roman" pitchFamily="18" charset="0"/>
                <a:cs typeface="Times New Roman" pitchFamily="18" charset="0"/>
              </a:rPr>
              <a:t>инженерная </a:t>
            </a:r>
            <a:r>
              <a:rPr lang="ru-RU" b="1" dirty="0" smtClean="0">
                <a:ln w="0"/>
                <a:latin typeface="Times New Roman" pitchFamily="18" charset="0"/>
                <a:cs typeface="Times New Roman" pitchFamily="18" charset="0"/>
              </a:rPr>
              <a:t>графика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550912"/>
          </a:xfrm>
        </p:spPr>
        <p:txBody>
          <a:bodyPr>
            <a:normAutofit lnSpcReduction="10000"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Лекция 1. </a:t>
            </a:r>
            <a:r>
              <a:rPr lang="ru-RU" dirty="0" smtClean="0">
                <a:ln w="0"/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Проецирование точк</a:t>
            </a:r>
            <a:r>
              <a:rPr lang="ru-RU" dirty="0" smtClean="0">
                <a:ln w="0"/>
                <a:latin typeface="Times New Roman" pitchFamily="18" charset="0"/>
                <a:cs typeface="Times New Roman" pitchFamily="18" charset="0"/>
              </a:rPr>
              <a:t>и</a:t>
            </a:r>
            <a:endParaRPr lang="ru-RU" b="0" cap="none" spc="0" dirty="0" smtClean="0">
              <a:ln w="0"/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3848" y="5805264"/>
            <a:ext cx="595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Старший преподаватель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Запорожану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Кристина Юрьевна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b="1" dirty="0"/>
              <a:t>Начертательная геометрия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19256" cy="1108719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раздел геометрии, в котором пространственные фигуры изучаются при помощи построения их изображений на плоскости, в частности построения проекционных изображений, а также методы решения и исследования пространственных задач на плоскости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5" y="2852936"/>
            <a:ext cx="6264696" cy="20313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разработал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общую геометрическую теорию, дающую возможность на плоском листе, содержащем ортогональные проекции трехмерного тела, решать различные стереометрические задачи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плоский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чертеж в двух проекциях, как результат совмещения изображенной фигуры в одной плоскости - комплексный чертеж или эпюр Монжа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tretch/>
        </p:blipFill>
        <p:spPr bwMode="auto">
          <a:xfrm>
            <a:off x="6444208" y="2564904"/>
            <a:ext cx="2471874" cy="2664296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732240" y="5157192"/>
            <a:ext cx="1593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0" dirty="0" err="1" smtClean="0">
                <a:solidFill>
                  <a:srgbClr val="202122"/>
                </a:solidFill>
                <a:latin typeface="Times New Roman" pitchFamily="18" charset="0"/>
                <a:cs typeface="Times New Roman" pitchFamily="18" charset="0"/>
              </a:rPr>
              <a:t>Гаспа́р</a:t>
            </a:r>
            <a:r>
              <a:rPr lang="ru-RU" b="1" i="0" dirty="0" smtClean="0">
                <a:solidFill>
                  <a:srgbClr val="202122"/>
                </a:solidFill>
                <a:latin typeface="Times New Roman" pitchFamily="18" charset="0"/>
                <a:cs typeface="Times New Roman" pitchFamily="18" charset="0"/>
              </a:rPr>
              <a:t> Монж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9512" y="5805265"/>
            <a:ext cx="8610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Прямая задача – определение проекций объекта</a:t>
            </a:r>
          </a:p>
          <a:p>
            <a:pPr>
              <a:lnSpc>
                <a:spcPct val="150000"/>
              </a:lnSpc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Обратная задача – определить форму и положение объекта по заданным проекциям</a:t>
            </a: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28184" y="5517232"/>
            <a:ext cx="2772816" cy="7386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Начертательная геометрия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математическая наука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об ортогональном проецировании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проекций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64703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Совокупность правил, с помощью которых строят на плоскости изображения геометрических фигур, расположенных в пространстве</a:t>
            </a:r>
          </a:p>
        </p:txBody>
      </p:sp>
      <p:sp>
        <p:nvSpPr>
          <p:cNvPr id="5" name="Параллелограмм 4"/>
          <p:cNvSpPr/>
          <p:nvPr/>
        </p:nvSpPr>
        <p:spPr>
          <a:xfrm>
            <a:off x="683568" y="4005064"/>
            <a:ext cx="3168352" cy="1224136"/>
          </a:xfrm>
          <a:prstGeom prst="parallelogram">
            <a:avLst>
              <a:gd name="adj" fmla="val 5635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1907704" y="4437112"/>
            <a:ext cx="432048" cy="3600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411760" y="2924944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123728" y="3140968"/>
            <a:ext cx="504056" cy="144016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51720" y="4797152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Плоскость проецирования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15816" y="2636912"/>
            <a:ext cx="1950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Объект проецирования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7544" y="3212976"/>
            <a:ext cx="1709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Луч проецирования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504" y="4077072"/>
            <a:ext cx="938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Проекция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179512" y="4365104"/>
            <a:ext cx="79208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endCxn id="6" idx="2"/>
          </p:cNvCxnSpPr>
          <p:nvPr/>
        </p:nvCxnSpPr>
        <p:spPr>
          <a:xfrm>
            <a:off x="971600" y="4365104"/>
            <a:ext cx="936104" cy="252028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539552" y="3501008"/>
            <a:ext cx="15121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051720" y="3501008"/>
            <a:ext cx="360040" cy="288032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3059832" y="2924944"/>
            <a:ext cx="172819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endCxn id="7" idx="7"/>
          </p:cNvCxnSpPr>
          <p:nvPr/>
        </p:nvCxnSpPr>
        <p:spPr>
          <a:xfrm flipH="1">
            <a:off x="2780536" y="2924944"/>
            <a:ext cx="279296" cy="63272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28184" y="3212976"/>
            <a:ext cx="176683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Проецирование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Прямая со стрелкой 36"/>
          <p:cNvCxnSpPr>
            <a:stCxn id="32" idx="2"/>
            <a:endCxn id="43" idx="0"/>
          </p:cNvCxnSpPr>
          <p:nvPr/>
        </p:nvCxnSpPr>
        <p:spPr>
          <a:xfrm>
            <a:off x="7111599" y="3582308"/>
            <a:ext cx="839155" cy="854804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>
            <a:stCxn id="32" idx="2"/>
            <a:endCxn id="42" idx="0"/>
          </p:cNvCxnSpPr>
          <p:nvPr/>
        </p:nvCxnSpPr>
        <p:spPr>
          <a:xfrm flipH="1">
            <a:off x="6175145" y="3582308"/>
            <a:ext cx="936454" cy="854804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36096" y="4437112"/>
            <a:ext cx="147809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Центральное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64288" y="4437112"/>
            <a:ext cx="1572931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Параллельное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Центральное проецирование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(человеческое зрение, фотографии, перспективные изображения)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5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Система центральных проекций состоит из плоскости проекций 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центра проекций – точки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S,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не лежащей в этой плоскости. Точку S называют также полюсом проекций.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t="22142"/>
          <a:stretch>
            <a:fillRect/>
          </a:stretch>
        </p:blipFill>
        <p:spPr bwMode="auto">
          <a:xfrm>
            <a:off x="42861" y="2526328"/>
            <a:ext cx="2716482" cy="1486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 cstate="print"/>
          <a:srcRect t="5716" r="62937"/>
          <a:stretch>
            <a:fillRect/>
          </a:stretch>
        </p:blipFill>
        <p:spPr bwMode="auto">
          <a:xfrm>
            <a:off x="3346015" y="4481480"/>
            <a:ext cx="2768747" cy="1800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550343"/>
            <a:ext cx="2788388" cy="1629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 t="3706"/>
          <a:stretch>
            <a:fillRect/>
          </a:stretch>
        </p:blipFill>
        <p:spPr bwMode="auto">
          <a:xfrm>
            <a:off x="3300969" y="2492896"/>
            <a:ext cx="2844316" cy="156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6444208" y="2204864"/>
            <a:ext cx="24482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Достоинство: 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Наглядность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Недостаток: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 решается обратная задача начертательной геометрии, т.к. одна проекция точки не определяет ее положение относительно плоскости проекции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 flipH="1">
            <a:off x="1979712" y="4437112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3203848" y="4437112"/>
            <a:ext cx="1008112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07704" y="4149080"/>
            <a:ext cx="1426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Проецирующая </a:t>
            </a:r>
          </a:p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прямая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" name="Рисунок 19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28184" y="4797152"/>
            <a:ext cx="277180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Параллельное проецирование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892696"/>
          </a:xfrm>
        </p:spPr>
        <p:txBody>
          <a:bodyPr>
            <a:noAutofit/>
          </a:bodyPr>
          <a:lstStyle/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Центр проекций S может быть взят на любом расстоянии от плоскости проекций. Если это расстояние бесконечно велико, то проецирующие прямые будут параллельны между собой.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 l="48709" b="12251"/>
          <a:stretch>
            <a:fillRect/>
          </a:stretch>
        </p:blipFill>
        <p:spPr bwMode="auto">
          <a:xfrm>
            <a:off x="6444208" y="2636912"/>
            <a:ext cx="2103144" cy="1683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 cstate="print">
            <a:biLevel thresh="50000"/>
          </a:blip>
          <a:srcRect l="2619" t="14498" r="21571" b="4056"/>
          <a:stretch>
            <a:fillRect/>
          </a:stretch>
        </p:blipFill>
        <p:spPr bwMode="auto">
          <a:xfrm>
            <a:off x="4211960" y="3861048"/>
            <a:ext cx="1800200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/>
          <p:cNvPicPr/>
          <p:nvPr/>
        </p:nvPicPr>
        <p:blipFill>
          <a:blip r:embed="rId2" cstate="print"/>
          <a:srcRect r="54870" b="12251"/>
          <a:stretch>
            <a:fillRect/>
          </a:stretch>
        </p:blipFill>
        <p:spPr bwMode="auto">
          <a:xfrm>
            <a:off x="4302082" y="2132856"/>
            <a:ext cx="1850517" cy="1683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95536" y="3212976"/>
            <a:ext cx="1728191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Параллельные проекции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67744" y="2204864"/>
            <a:ext cx="1564339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Косоугольные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73135" y="4653136"/>
            <a:ext cx="175355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Прямоугольные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>
            <a:stCxn id="7" idx="3"/>
            <a:endCxn id="8" idx="2"/>
          </p:cNvCxnSpPr>
          <p:nvPr/>
        </p:nvCxnSpPr>
        <p:spPr>
          <a:xfrm flipV="1">
            <a:off x="2123727" y="2574196"/>
            <a:ext cx="926187" cy="961946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7" idx="3"/>
            <a:endCxn id="9" idx="0"/>
          </p:cNvCxnSpPr>
          <p:nvPr/>
        </p:nvCxnSpPr>
        <p:spPr>
          <a:xfrm>
            <a:off x="2123727" y="3536142"/>
            <a:ext cx="926187" cy="1116994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07504" y="5229200"/>
            <a:ext cx="89289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000"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построения машиностроительных чертежей используют проекции на две взаимно перпендикулярные плоскости, оказавшиеся наиболее удобными и простыми. </a:t>
            </a:r>
          </a:p>
          <a:p>
            <a:pPr indent="450000"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Две прямоугольные проекции, взаимно дополняющие одна другую, образуют такое изображение предмета, которое с учетом масштаба изображения позволяет судить как о его истинных размерах, так и о форме, хотя последняя и не всегда может быть ясно выражена двумя проекциями. </a:t>
            </a:r>
          </a:p>
          <a:p>
            <a:pPr indent="450000" algn="just"/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2. Проецирование точки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2332037"/>
            <a:ext cx="8229600" cy="45259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Проецирование на две плоскости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Проецирование на три плоскости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Точка общего положения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Точка частного положения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Замена плоскостей проекции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Конкурирующие точки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Проецирование точки на две плоскости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36712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При прямоугольном проецировании система плоскостей проекций представляет собой две взаимно перпендикулярные плоскости проекций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3284984"/>
            <a:ext cx="2480843" cy="212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23528" y="5589240"/>
            <a:ext cx="404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Горизонтальная плоскость проекции 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5536" y="2852936"/>
            <a:ext cx="378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Фронтальная плоскость проекции 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4048" y="2780928"/>
            <a:ext cx="3728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плоскостей проекций </a:t>
            </a:r>
            <a:r>
              <a:rPr lang="ru-RU" b="1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b="1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3501008"/>
            <a:ext cx="150495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96336" y="3429000"/>
            <a:ext cx="1114425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Стрелка вправо 11"/>
          <p:cNvSpPr/>
          <p:nvPr/>
        </p:nvSpPr>
        <p:spPr>
          <a:xfrm>
            <a:off x="6732240" y="4149080"/>
            <a:ext cx="720080" cy="432048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83668" y="260648"/>
            <a:ext cx="5976664" cy="100811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Горизонтальная проекция точки А - 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800" baseline="-25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Фронтальная проекция точки А - 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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556792"/>
            <a:ext cx="2386924" cy="217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8973" y="1628800"/>
            <a:ext cx="1360770" cy="203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1628800"/>
            <a:ext cx="1360770" cy="203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0" y="3861048"/>
            <a:ext cx="892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Вывод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что две проекции одной и той же точки лежат на общем перпендикуляре к оси проекции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Этот перпендикуляр, соединяющий две проекции одной и той же точки, называют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линией проекционной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связи.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7380312" y="1988840"/>
            <a:ext cx="216024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7596336" y="1988840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24328" y="170080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Эпюр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504" y="4797152"/>
            <a:ext cx="8784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Точка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 удалена от плоскости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 меньшее расстояние, чем от плоскости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так как 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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" name="Рисунок 17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19672" y="5301208"/>
            <a:ext cx="3168352" cy="1556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Рисунок 18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74562" y="5535637"/>
            <a:ext cx="1865810" cy="132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Рисунок 19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026910" y="5353050"/>
            <a:ext cx="211709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980728"/>
            <a:ext cx="3290317" cy="2553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Проецирование точки на три плоскости проекций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08520" y="1700808"/>
            <a:ext cx="2381532" cy="18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1720" y="1700808"/>
            <a:ext cx="2417300" cy="1977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51520" y="1052736"/>
            <a:ext cx="371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Профильная плоскость проекции 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48064" y="3429000"/>
            <a:ext cx="3744416" cy="13849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1┴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1┴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2┴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OX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OY, OX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OZ, OY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OZ,</a:t>
            </a:r>
          </a:p>
          <a:p>
            <a:pPr algn="ctr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А'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 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А''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А'''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 ┴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algn="just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А'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А''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А'''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проецирующие прямые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А'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А''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А'''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горизонтальная, фронтальная, профильная проекции точки А</a:t>
            </a:r>
          </a:p>
        </p:txBody>
      </p:sp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0" y="3717032"/>
            <a:ext cx="5004048" cy="16004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Проецирующая прямая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прямая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перпендикулярная одной из плоскостей проекций – горизонтальной (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</a:t>
            </a:r>
            <a:r>
              <a:rPr kumimoji="0" lang="ru-RU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), фронтальной (</a:t>
            </a:r>
            <a:r>
              <a:rPr kumimoji="0" lang="ru-RU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 или профильной (</a:t>
            </a:r>
            <a:r>
              <a:rPr kumimoji="0" lang="ru-RU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), т. е. </a:t>
            </a:r>
            <a:r>
              <a:rPr kumimoji="0" lang="ru-RU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1┴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</a:t>
            </a:r>
            <a:r>
              <a:rPr kumimoji="0" lang="ru-RU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, </a:t>
            </a:r>
            <a:r>
              <a:rPr kumimoji="0" lang="ru-RU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1┴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</a:t>
            </a:r>
            <a:r>
              <a:rPr kumimoji="0" lang="ru-RU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и </a:t>
            </a:r>
            <a:r>
              <a:rPr kumimoji="0" lang="ru-RU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2┴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</a:t>
            </a:r>
            <a:r>
              <a:rPr kumimoji="0" lang="ru-RU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.</a:t>
            </a:r>
            <a:endParaRPr kumimoji="0" lang="ru-RU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  <a:sym typeface="Symbol" pitchFamily="18" charset="2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Проекция точки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– точка пересечения проецирующей прямой, проходящей через данную точку, с плоскостью проекций.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7020272" y="2564904"/>
            <a:ext cx="1944216" cy="73866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0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</a:t>
            </a:r>
            <a:r>
              <a:rPr kumimoji="0" lang="en-US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y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en-US" sz="14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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=A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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A=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en-US" sz="14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z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A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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0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А</a:t>
            </a:r>
            <a:r>
              <a:rPr kumimoji="0" lang="en-US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=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A</a:t>
            </a:r>
            <a:r>
              <a:rPr kumimoji="0" lang="en-US" sz="14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y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A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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=A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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A=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en-US" sz="14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z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A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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0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А</a:t>
            </a:r>
            <a:r>
              <a:rPr kumimoji="0" lang="en-US" sz="14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z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=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A</a:t>
            </a:r>
            <a:r>
              <a:rPr kumimoji="0" lang="en-US" sz="14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y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A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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=A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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A=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</a:t>
            </a:r>
            <a:r>
              <a:rPr kumimoji="0" lang="en-US" sz="14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A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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1967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23" name="Рисунок 22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76056" y="4869160"/>
            <a:ext cx="2304256" cy="1988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Прямоугольник 23"/>
          <p:cNvSpPr/>
          <p:nvPr/>
        </p:nvSpPr>
        <p:spPr>
          <a:xfrm>
            <a:off x="7267461" y="5589240"/>
            <a:ext cx="1876539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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=А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=А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1043608" y="5805264"/>
            <a:ext cx="376282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Профильная проекция точки А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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Точка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общего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положения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08720"/>
          </a:xfrm>
        </p:spPr>
        <p:txBody>
          <a:bodyPr/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точка, не принадлежащая ни одной плоскости проекций 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2996952"/>
            <a:ext cx="3158490" cy="2736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3212976"/>
            <a:ext cx="2417300" cy="1977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Точка частного положения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08720"/>
          </a:xfrm>
        </p:spPr>
        <p:txBody>
          <a:bodyPr/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точка, принадлежащая хотя бы одной из плоскостей проекций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2708920"/>
            <a:ext cx="4499992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4869160"/>
            <a:ext cx="4361180" cy="1716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2564904"/>
            <a:ext cx="469582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Способ замены плоскостей проекций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844824"/>
            <a:ext cx="8712968" cy="1828799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Введение дополнительной плоскости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проекций.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Этот способ заключается в том, что изображаемый объект (отрезок, плоскую фигуру, тело), не изменяя его положения в пространстве, проецируют на новую дополнительную плоскость проекций, заменившую одну из основных плоскостей. Новая дополнительная плоскость проекций,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образует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 одной из основных плоскостей новую систему двух взаимно перпендикулярных плоскостей проекций.</a:t>
            </a:r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323528" y="4077072"/>
            <a:ext cx="8676456" cy="230832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4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– дополнительная плоскость, перпендикулярная плоскости 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, 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, или 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;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– новая ось проекций;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А</a:t>
            </a:r>
            <a:r>
              <a:rPr kumimoji="0" lang="ru-RU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IV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, В</a:t>
            </a:r>
            <a:r>
              <a:rPr kumimoji="0" lang="ru-RU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IV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, С</a:t>
            </a:r>
            <a:r>
              <a:rPr kumimoji="0" lang="ru-RU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IV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, – проекции точек А, В, С,… на дополнительную плоскость 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4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Условная запись замены фронтальной плоскости проекций: 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/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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/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4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Условная запись замены горизонтальной плоскости проекций: 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/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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/</a:t>
            </a:r>
            <a:r>
              <a:rPr kumimoji="0" lang="ru-RU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4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.</a:t>
            </a: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по ходу решения задачи требуется двойная, тройная и т.д. замена плоскостей проекций, то каждой новой дополнительной плоскости присваивается следующий индекс, например,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т.д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Замена фронтальной плоскости проекций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2132856"/>
            <a:ext cx="5582557" cy="3060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3779912" y="5661248"/>
            <a:ext cx="230864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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 А</a:t>
            </a:r>
            <a:r>
              <a:rPr lang="ru-RU" baseline="30000" dirty="0" smtClean="0">
                <a:latin typeface="Times New Roman" pitchFamily="18" charset="0"/>
                <a:cs typeface="Times New Roman" pitchFamily="18" charset="0"/>
              </a:rPr>
              <a:t>IV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Х1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 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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Замена горизонтальной плоскости проекций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1154" y="2492896"/>
            <a:ext cx="5201692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4211960" y="6021288"/>
            <a:ext cx="144206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=В</a:t>
            </a:r>
            <a:r>
              <a:rPr lang="ru-RU" baseline="30000" dirty="0" smtClean="0">
                <a:latin typeface="Times New Roman" pitchFamily="18" charset="0"/>
                <a:cs typeface="Times New Roman" pitchFamily="18" charset="0"/>
              </a:rPr>
              <a:t>IV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Х1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Конкурирующие точки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3671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ru-RU" dirty="0"/>
              <a:t>Точки, расположенные на одной проецирующей прямой, называют </a:t>
            </a:r>
            <a:r>
              <a:rPr lang="ru-RU" b="1" dirty="0"/>
              <a:t>конкурирующими</a:t>
            </a:r>
            <a:r>
              <a:rPr lang="ru-RU" dirty="0"/>
              <a:t> относительно той плоскости проекций, на которой их проекции совпадают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780928"/>
            <a:ext cx="5020781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4139952" y="5661248"/>
            <a:ext cx="1007007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(А↕В)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5745" y="980728"/>
            <a:ext cx="6112510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5745" y="4005064"/>
            <a:ext cx="6112510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1081068" y="548680"/>
            <a:ext cx="6981865" cy="27699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Две точки общего положения могут быть равноудалёнными от одной из основных плоскостей проекций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223628" y="3501008"/>
            <a:ext cx="6696744" cy="27699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>
                <a:latin typeface="Times New Roman" pitchFamily="18" charset="0"/>
                <a:cs typeface="Times New Roman" pitchFamily="18" charset="0"/>
              </a:rPr>
              <a:t>Две точки общего положения могут быть равноудалёнными от трех основных плоскостей проекций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Контрольные вопросы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36911"/>
          </a:xfrm>
        </p:spPr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1. Могут ли точка общего положения и точка, принадлежащая оси проекций быть конкурирующими? </a:t>
            </a:r>
          </a:p>
          <a:p>
            <a:pPr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2. Как расположены две точки, если их горизонтальные проекции совпадают с началом координат? </a:t>
            </a:r>
          </a:p>
          <a:p>
            <a:pPr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3. Две точки какого положения могут быть равноудаленными от трёх основных плоскостей проекций? </a:t>
            </a:r>
          </a:p>
          <a:p>
            <a:pPr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4. Когда проекцию одной из двух точек заключают в скобки? </a:t>
            </a:r>
          </a:p>
          <a:p>
            <a:pPr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5. От какой плоскости проекций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равноудалены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две точки, если у них равны координаты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</TotalTime>
  <Words>983</Words>
  <Application>Microsoft Office PowerPoint</Application>
  <PresentationFormat>Экран (4:3)</PresentationFormat>
  <Paragraphs>93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Начертательная геометрия  и  инженерная графика</vt:lpstr>
      <vt:lpstr>Начертательная геометрия </vt:lpstr>
      <vt:lpstr>1. Метод проекций</vt:lpstr>
      <vt:lpstr>Центральное проецирование  (человеческое зрение, фотографии, перспективные изображения)</vt:lpstr>
      <vt:lpstr>Параллельное проецирование</vt:lpstr>
      <vt:lpstr>2. Проецирование точки</vt:lpstr>
      <vt:lpstr>Проецирование точки на две плоскости</vt:lpstr>
      <vt:lpstr>Слайд 8</vt:lpstr>
      <vt:lpstr>Проецирование точки на три плоскости проекций</vt:lpstr>
      <vt:lpstr>Точка общего положения</vt:lpstr>
      <vt:lpstr>Точка частного положения </vt:lpstr>
      <vt:lpstr>Способ замены плоскостей проекций</vt:lpstr>
      <vt:lpstr>Замена фронтальной плоскости проекций</vt:lpstr>
      <vt:lpstr>Замена горизонтальной плоскости проекций</vt:lpstr>
      <vt:lpstr>Конкурирующие точки</vt:lpstr>
      <vt:lpstr>Слайд 16</vt:lpstr>
      <vt:lpstr>Контрольные вопросы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Начертательная геометрия  и  инженерная графика</dc:title>
  <dc:creator/>
  <cp:lastModifiedBy/>
  <cp:revision>38</cp:revision>
  <dcterms:created xsi:type="dcterms:W3CDTF">2023-09-07T07:14:53Z</dcterms:created>
  <dcterms:modified xsi:type="dcterms:W3CDTF">2023-09-08T09:04:45Z</dcterms:modified>
</cp:coreProperties>
</file>