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EEFFC-7608-4F35-B6FE-DDE48059E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B47D6C-1112-4D3E-9B2F-3E342EF09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D0B4A8-E19F-4E08-8674-CCFE65EB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B1B7B-64D7-42A1-B4CF-C267C03D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8222AA-550C-486F-9551-423C507E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08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945F0-BE85-4C5E-96A1-71839B75A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A8051F-C5E8-411A-A095-638D7FF5E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E14841-037C-415C-A9E2-C1DDDAEB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193DE2-DEDF-41D6-B3FC-F888F0EC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038214-7D17-4FC4-A43F-93EA3988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96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3C5F47-0373-4F46-81CC-FAA22F89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AAF8-F57F-4CC3-9285-0E3819A8F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E23445-BEDA-4039-BD57-9B9FF2A4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6D04C0-2553-4C85-8F28-868EE404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E2D70-0E72-4758-BC27-94AE1BA9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23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91E7E-2BCA-4F29-93A9-D95C29F37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F896FB-4820-4621-9969-F30F3B76E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EBF90E-B1D6-4CFE-8B03-81F4B0A55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7EFD87-A993-4F98-8F35-19A17B96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8284A8-CA15-4B41-AC6C-B293CF8C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71026E-C47A-4588-BABE-8CF40A041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38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FB3DDB-636F-447A-8358-57608C4C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E50888-A462-47B7-BD25-472FE7789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B190E4-9196-4E97-A3CA-EF197A49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A5B9D6-D14B-40A4-8989-050367570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418577-747B-45CE-848A-D97151799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DD5D2CB-753B-46EF-A2CE-BA6272B2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B9ED02-6F3B-4903-BAC8-A5311B4B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CF71A36-22FB-41EA-BAF2-76123F654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00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C698-7630-4C2D-96D9-2CBA0A32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CD51A0C-3A42-499F-A428-8549D37D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4AA4E6C-D687-4ABF-9E78-E23BD580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6978FC-6B3E-4EC0-9651-E07A788D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34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BAE9C9-E7A2-4384-97A8-EFB9BF4EC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331C0EF-93DE-48BD-9D36-B0DAE0D3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70D320-4D0A-4CCC-B402-F2C5C4BB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40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CAF50-F058-4DAD-BF69-EAC98B94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2191D1-FECB-440A-B0CD-684E33CE1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7CB485-1F4D-43E2-A373-D69EE08A9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320517-5DCE-4935-9D8E-B56DEA19C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D3A9D6-E3E6-487D-9A64-65A12C59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1DAB32-9AF6-499D-86BD-4376E81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392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1BBFD-0A6E-4D46-848C-CFEE2AC1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8FFCDC-8E3D-445E-B3AE-2EADEFF08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5274CD-1FF5-441B-9930-AC72B673D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5A8662-2C1E-4C12-81F4-1EBF9F7F7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12FFCA-39D3-4DFC-BD59-034B0CAB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273D45-C461-4249-AF99-3691FF1E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84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3F75B-5F4B-4458-B7E1-3760751B4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CF126F-AB3F-487F-86F5-F8624ED61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272B95-EB8B-4AF2-A6CD-9720862E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0C9F3D-D1D6-48B9-9FE2-0F861200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448012-45C4-4AE6-94A0-D954796F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8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0D8B4CC-206E-400D-8B2C-EF3491BDE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291DE8-353F-4814-AEE0-F37937F38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147D70-CC3A-4049-BD0A-944D7E9D5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D2B19-21E2-4031-B6BB-F9ED093F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BEB910-0F12-4301-914F-913D22A0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A787F-0874-4AC7-A993-8217BFDF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73E5C2-C10E-4503-86F7-ED0B4996C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8BB36C-F8E8-42DE-89CF-BE6B8CF0E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0911C-3DB5-4EEC-B599-1014C1D0CEFD}" type="datetimeFigureOut">
              <a:rPr lang="ru-RU" smtClean="0"/>
              <a:t>22.03.2021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20E946-53CC-4459-B046-DC3BB1236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667FC6-63D4-424B-B7DF-1E3361326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F7BCB-F05F-4AF5-96AF-0B4B0AEE86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2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B56C1F-9242-4E16-AC15-D6033FB4C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ЛЕКЦИЯ №4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F65F5E-19E7-42B9-939A-B15F9D8F7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DefaultFont"/>
              </a:rPr>
              <a:t>Основы логического программирования на языке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DefaultFont"/>
              </a:rPr>
              <a:t>Prolog</a:t>
            </a:r>
            <a:endParaRPr lang="ru-RU" b="0" i="0" dirty="0">
              <a:solidFill>
                <a:srgbClr val="333333"/>
              </a:solidFill>
              <a:effectLst/>
              <a:latin typeface="DefaultFon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2598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7BBD8-DF9E-4F25-A9C7-6F7E9C30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39365"/>
          </a:xfrm>
        </p:spPr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DefaultFont"/>
              </a:rPr>
              <a:t>Язык программирования 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DefaultFont"/>
              </a:rPr>
              <a:t>PROLOG</a:t>
            </a:r>
            <a:endParaRPr lang="ru-RU" sz="18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2532FE8-47D0-49DB-A2CB-1A90FE02E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2979416"/>
              </p:ext>
            </p:extLst>
          </p:nvPr>
        </p:nvGraphicFramePr>
        <p:xfrm>
          <a:off x="188536" y="339365"/>
          <a:ext cx="11858921" cy="650030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48609">
                  <a:extLst>
                    <a:ext uri="{9D8B030D-6E8A-4147-A177-3AD203B41FA5}">
                      <a16:colId xmlns:a16="http://schemas.microsoft.com/office/drawing/2014/main" val="1514215712"/>
                    </a:ext>
                  </a:extLst>
                </a:gridCol>
                <a:gridCol w="2446757">
                  <a:extLst>
                    <a:ext uri="{9D8B030D-6E8A-4147-A177-3AD203B41FA5}">
                      <a16:colId xmlns:a16="http://schemas.microsoft.com/office/drawing/2014/main" val="1589119185"/>
                    </a:ext>
                  </a:extLst>
                </a:gridCol>
                <a:gridCol w="5369696">
                  <a:extLst>
                    <a:ext uri="{9D8B030D-6E8A-4147-A177-3AD203B41FA5}">
                      <a16:colId xmlns:a16="http://schemas.microsoft.com/office/drawing/2014/main" val="1929427717"/>
                    </a:ext>
                  </a:extLst>
                </a:gridCol>
                <a:gridCol w="2993859">
                  <a:extLst>
                    <a:ext uri="{9D8B030D-6E8A-4147-A177-3AD203B41FA5}">
                      <a16:colId xmlns:a16="http://schemas.microsoft.com/office/drawing/2014/main" val="2860603454"/>
                    </a:ext>
                  </a:extLst>
                </a:gridCol>
              </a:tblGrid>
              <a:tr h="377878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№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этапа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Период развития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Направление развития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Авторы</a:t>
                      </a:r>
                      <a:endParaRPr lang="ru-RU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extLst>
                  <a:ext uri="{0D108BD9-81ED-4DB2-BD59-A6C34878D82A}">
                    <a16:rowId xmlns:a16="http://schemas.microsoft.com/office/drawing/2014/main" val="2131634401"/>
                  </a:ext>
                </a:extLst>
              </a:tr>
              <a:tr h="281491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u="none" strike="noStrike">
                          <a:effectLst/>
                        </a:rPr>
                        <a:t>I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1950 г.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Публикация в журнале «</a:t>
                      </a:r>
                      <a:r>
                        <a:rPr lang="ru-RU" sz="900" u="none" strike="noStrike" dirty="0" err="1">
                          <a:effectLst/>
                        </a:rPr>
                        <a:t>Mind</a:t>
                      </a:r>
                      <a:r>
                        <a:rPr lang="ru-RU" sz="900" u="none" strike="noStrike" dirty="0">
                          <a:effectLst/>
                        </a:rPr>
                        <a:t>» статьи «Вычислительные машины и интеллект». В этой статье были сформулированы идеи, которые получили название «Тест Тьюринга».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А. Тьюринг</a:t>
                      </a:r>
                      <a:endParaRPr lang="ru-RU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extLst>
                  <a:ext uri="{0D108BD9-81ED-4DB2-BD59-A6C34878D82A}">
                    <a16:rowId xmlns:a16="http://schemas.microsoft.com/office/drawing/2014/main" val="1933015819"/>
                  </a:ext>
                </a:extLst>
              </a:tr>
              <a:tr h="420710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u="none" strike="noStrike">
                          <a:effectLst/>
                        </a:rPr>
                        <a:t>II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1973 г.</a:t>
                      </a:r>
                      <a:endParaRPr lang="ru-RU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Создание программы для доказательства теорем, которая получила название </a:t>
                      </a:r>
                      <a:r>
                        <a:rPr lang="ru-RU" sz="900" u="none" strike="noStrike" dirty="0" err="1">
                          <a:effectLst/>
                        </a:rPr>
                        <a:t>Prolog</a:t>
                      </a:r>
                      <a:r>
                        <a:rPr lang="ru-RU" sz="900" u="none" strike="noStrike" dirty="0">
                          <a:effectLst/>
                        </a:rPr>
                        <a:t> (от </a:t>
                      </a:r>
                      <a:r>
                        <a:rPr lang="ru-RU" sz="900" u="none" strike="noStrike" dirty="0" err="1">
                          <a:effectLst/>
                        </a:rPr>
                        <a:t>Programmation</a:t>
                      </a:r>
                      <a:r>
                        <a:rPr lang="ru-RU" sz="900" u="none" strike="noStrike" dirty="0">
                          <a:effectLst/>
                        </a:rPr>
                        <a:t> </a:t>
                      </a:r>
                      <a:r>
                        <a:rPr lang="ru-RU" sz="900" u="none" strike="noStrike" dirty="0" err="1">
                          <a:effectLst/>
                        </a:rPr>
                        <a:t>en</a:t>
                      </a:r>
                      <a:r>
                        <a:rPr lang="ru-RU" sz="900" u="none" strike="noStrike" dirty="0">
                          <a:effectLst/>
                        </a:rPr>
                        <a:t> </a:t>
                      </a:r>
                      <a:r>
                        <a:rPr lang="ru-RU" sz="900" u="none" strike="noStrike" dirty="0" err="1">
                          <a:effectLst/>
                        </a:rPr>
                        <a:t>Logique</a:t>
                      </a:r>
                      <a:r>
                        <a:rPr lang="ru-RU" sz="900" u="none" strike="noStrike" dirty="0">
                          <a:effectLst/>
                        </a:rPr>
                        <a:t>). Эта программа использовалась при построении систем обработки текстов на естественном языке. Она послужила прообразом Пролога.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«группа искусственного интеллекта» во главе с Аланом Колмероэ</a:t>
                      </a:r>
                      <a:endParaRPr lang="ru-RU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extLst>
                  <a:ext uri="{0D108BD9-81ED-4DB2-BD59-A6C34878D82A}">
                    <a16:rowId xmlns:a16="http://schemas.microsoft.com/office/drawing/2014/main" val="1094612144"/>
                  </a:ext>
                </a:extLst>
              </a:tr>
              <a:tr h="4383186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u="none" strike="noStrike" dirty="0">
                          <a:effectLst/>
                        </a:rPr>
                        <a:t>III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1974 г.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1976 г.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1977 г.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1980 г.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 </a:t>
                      </a: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1986-1992 гг.</a:t>
                      </a:r>
                      <a:endParaRPr lang="ru-RU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Выпущена работа «Логика предикатов как язык программирования».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Предложено два подхода к прочтению текстов логических программ: процедурный и декларативный.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Создан эффективный компилятор языка Пролог для ЭВМ DEC-10, который послужил прототипом для многих последующих реализаций Пролога, так называемая «Эдинбургская версия», фактически ставшая первым и единственным стандартом языка.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Разработана версия Пролога для персональных компьютеров.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Выходит первая версия Турбо Пролога.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PDC </a:t>
                      </a:r>
                      <a:r>
                        <a:rPr lang="ru-RU" sz="900" u="none" strike="noStrike" dirty="0" err="1">
                          <a:effectLst/>
                        </a:rPr>
                        <a:t>Prolog</a:t>
                      </a:r>
                      <a:r>
                        <a:rPr lang="ru-RU" sz="900" u="none" strike="noStrike" dirty="0">
                          <a:effectLst/>
                        </a:rPr>
                        <a:t> 3.31.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Р. Ковальский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Р. Ковальский и </a:t>
                      </a:r>
                      <a:r>
                        <a:rPr lang="ru-RU" sz="900" u="none" strike="noStrike" dirty="0" err="1">
                          <a:effectLst/>
                        </a:rPr>
                        <a:t>Маартен</a:t>
                      </a:r>
                      <a:r>
                        <a:rPr lang="ru-RU" sz="900" u="none" strike="noStrike" dirty="0">
                          <a:effectLst/>
                        </a:rPr>
                        <a:t> Ван Эмден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Уоррен и Перейра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Кларк и </a:t>
                      </a:r>
                      <a:r>
                        <a:rPr lang="ru-RU" sz="900" u="none" strike="noStrike" dirty="0" err="1">
                          <a:effectLst/>
                        </a:rPr>
                        <a:t>Маккейб</a:t>
                      </a:r>
                      <a:endParaRPr lang="ru-RU" sz="900" u="none" strike="noStrike" dirty="0">
                        <a:effectLst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u="none" strike="noStrike" dirty="0">
                          <a:effectLst/>
                        </a:rPr>
                        <a:t>Borland International </a:t>
                      </a:r>
                      <a:r>
                        <a:rPr lang="ru-RU" sz="900" u="none" strike="noStrike" dirty="0">
                          <a:effectLst/>
                        </a:rPr>
                        <a:t>и </a:t>
                      </a:r>
                      <a:r>
                        <a:rPr lang="en-US" sz="900" u="none" strike="noStrike" dirty="0">
                          <a:effectLst/>
                        </a:rPr>
                        <a:t>Prolog Development Center (PDC)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extLst>
                  <a:ext uri="{0D108BD9-81ED-4DB2-BD59-A6C34878D82A}">
                    <a16:rowId xmlns:a16="http://schemas.microsoft.com/office/drawing/2014/main" val="3031184311"/>
                  </a:ext>
                </a:extLst>
              </a:tr>
              <a:tr h="559928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u="none" strike="noStrike">
                          <a:effectLst/>
                        </a:rPr>
                        <a:t>IV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1991 г.</a:t>
                      </a:r>
                      <a:endParaRPr lang="ru-RU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Проект создания компьютеров пятого поколения, работа которых должна приблизиться к человеческому мышлению (отход от фон Неймановской архитектуры). Были созданы специализированные компьютеры логического программирования PSI и PIM. Этот проект вызвал взрыв интереса к логическому программированию. 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Японские программисты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extLst>
                  <a:ext uri="{0D108BD9-81ED-4DB2-BD59-A6C34878D82A}">
                    <a16:rowId xmlns:a16="http://schemas.microsoft.com/office/drawing/2014/main" val="2381184891"/>
                  </a:ext>
                </a:extLst>
              </a:tr>
              <a:tr h="151364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u="none" strike="noStrike">
                          <a:effectLst/>
                        </a:rPr>
                        <a:t>V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>
                          <a:effectLst/>
                        </a:rPr>
                        <a:t>1996-2007 гг.</a:t>
                      </a:r>
                      <a:endParaRPr lang="ru-RU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900" u="none" strike="noStrike" dirty="0">
                          <a:effectLst/>
                        </a:rPr>
                        <a:t>Выпуск системы Visual Prolog 4.0.- Visual Prolog 6.0.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ru-RU" sz="900" u="none" strike="noStrike" dirty="0">
                          <a:effectLst/>
                        </a:rPr>
                        <a:t>PDC совместно с российскими программистами</a:t>
                      </a:r>
                      <a:endParaRPr lang="ru-RU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956" marR="28956" marT="3217" marB="0"/>
                </a:tc>
                <a:extLst>
                  <a:ext uri="{0D108BD9-81ED-4DB2-BD59-A6C34878D82A}">
                    <a16:rowId xmlns:a16="http://schemas.microsoft.com/office/drawing/2014/main" val="3678546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27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E0F97B-B858-4710-8CC8-0371FF5C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4434"/>
          </a:xfrm>
        </p:spPr>
        <p:txBody>
          <a:bodyPr>
            <a:normAutofit/>
          </a:bodyPr>
          <a:lstStyle/>
          <a:p>
            <a:r>
              <a:rPr lang="ru-RU" sz="2000" b="1" dirty="0"/>
              <a:t>Особенности синтаксиса </a:t>
            </a:r>
            <a:r>
              <a:rPr lang="ru-RU" sz="2000" b="1" dirty="0" err="1"/>
              <a:t>яп</a:t>
            </a:r>
            <a:r>
              <a:rPr lang="ru-RU" sz="2000" b="1" dirty="0"/>
              <a:t> Пролог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2AB5F-FCF7-4AC8-A360-3314BE27E9BC}"/>
              </a:ext>
            </a:extLst>
          </p:cNvPr>
          <p:cNvSpPr txBox="1"/>
          <p:nvPr/>
        </p:nvSpPr>
        <p:spPr>
          <a:xfrm>
            <a:off x="1159497" y="1125659"/>
            <a:ext cx="9521071" cy="209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математической логике константы, переменные и функции объединены общим названием - терм.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Терм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это переменные, константы и функции вида: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f(t 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,t 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,...,t 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	(t 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,t 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,...,t 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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</a:t>
            </a:r>
            <a:r>
              <a:rPr lang="fr-FR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где каждое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терм, а f - n-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арный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функциональный символ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или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функтор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(арность - это число аргументов).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83BBB-A8B5-48E8-934C-D26481DBD6A3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"?"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661B0-4FEA-4F47-8992-4D4FF4245318}"/>
              </a:ext>
            </a:extLst>
          </p:cNvPr>
          <p:cNvSpPr txBox="1"/>
          <p:nvPr/>
        </p:nvSpPr>
        <p:spPr>
          <a:xfrm>
            <a:off x="2962373" y="3831152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определяет совокупность пар (x, y), таких, что элементы множества людей x и y находятся в отношении родства мама. Множество пар (x, y) это множество матерей и детей.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8D517-78E4-4B10-BE2D-B1D7F4F0F285}"/>
              </a:ext>
            </a:extLst>
          </p:cNvPr>
          <p:cNvSpPr txBox="1"/>
          <p:nvPr/>
        </p:nvSpPr>
        <p:spPr>
          <a:xfrm>
            <a:off x="2962373" y="351599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отношение мама(</a:t>
            </a:r>
            <a:r>
              <a:rPr lang="en-US" dirty="0"/>
              <a:t>x, y)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263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76BFAC-665F-4849-AE2C-A2A98C5D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287"/>
          </a:xfrm>
        </p:spPr>
        <p:txBody>
          <a:bodyPr>
            <a:norm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Особенности Пролога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0B0E4-7350-4B1E-B86B-BAAA309F47ED}"/>
              </a:ext>
            </a:extLst>
          </p:cNvPr>
          <p:cNvSpPr txBox="1"/>
          <p:nvPr/>
        </p:nvSpPr>
        <p:spPr>
          <a:xfrm>
            <a:off x="1018095" y="1178351"/>
            <a:ext cx="10105534" cy="181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Предикат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это выражение вида	P(t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где каждое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терм, а P - m-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арный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предикатный символ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Формально предикат P(t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можно читать либо как "m - ка (t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принадлежит отношению Р", либо как высказывание Р справедливо для m-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4D5C7-4B27-44AB-B98C-D87032D3027C}"/>
              </a:ext>
            </a:extLst>
          </p:cNvPr>
          <p:cNvSpPr txBox="1"/>
          <p:nvPr/>
        </p:nvSpPr>
        <p:spPr>
          <a:xfrm>
            <a:off x="3047215" y="3108191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Times New Roman" panose="02020603050405020304" pitchFamily="18" charset="0"/>
              </a:rPr>
              <a:t>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¬, &lt;- , &lt;-&gt;, </a:t>
            </a:r>
            <a:r>
              <a:rPr lang="ru-RU" dirty="0"/>
              <a:t>которые читаются как "и", "или", "не", "если", "тогда и только тогда"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850A1-3CA8-4123-9F67-FCC66BB4EE7B}"/>
              </a:ext>
            </a:extLst>
          </p:cNvPr>
          <p:cNvSpPr txBox="1"/>
          <p:nvPr/>
        </p:nvSpPr>
        <p:spPr>
          <a:xfrm>
            <a:off x="3047215" y="4003737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( A  B ) означает ¬ ( A &lt;- B ), </a:t>
            </a:r>
          </a:p>
          <a:p>
            <a:r>
              <a:rPr lang="ru-RU" dirty="0"/>
              <a:t>( A \/ B ) означает ( ¬ A) &lt;- B, </a:t>
            </a:r>
          </a:p>
          <a:p>
            <a:r>
              <a:rPr lang="ru-RU" dirty="0"/>
              <a:t>( A &lt;-&gt; B ) означает ( A &lt;- B )( B &lt;- A ),</a:t>
            </a:r>
          </a:p>
          <a:p>
            <a:r>
              <a:rPr lang="ru-RU" dirty="0"/>
              <a:t> где А и В - суть формулы.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CE191-4970-48BC-84D6-BB4C829FF1F8}"/>
              </a:ext>
            </a:extLst>
          </p:cNvPr>
          <p:cNvSpPr txBox="1"/>
          <p:nvPr/>
        </p:nvSpPr>
        <p:spPr>
          <a:xfrm>
            <a:off x="5545318" y="5014589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Наряду со связками существуют кванторы общности () и существования (). Кванторы определяют пределы изменения переменных. Формула, стоящая после квантора называется областью действия этого квантора. Для кванторов тоже существуют формулы сокращения: </a:t>
            </a:r>
          </a:p>
          <a:p>
            <a:r>
              <a:rPr lang="ru-RU" dirty="0"/>
              <a:t>x А означает (¬(x (¬А))). </a:t>
            </a:r>
          </a:p>
        </p:txBody>
      </p:sp>
    </p:spTree>
    <p:extLst>
      <p:ext uri="{BB962C8B-B14F-4D97-AF65-F5344CB8AC3E}">
        <p14:creationId xmlns:p14="http://schemas.microsoft.com/office/powerpoint/2010/main" val="2450654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3EEF1-4EB6-47B1-AAAD-27A301AD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2557"/>
            <a:ext cx="10515600" cy="407873"/>
          </a:xfrm>
        </p:spPr>
        <p:txBody>
          <a:bodyPr>
            <a:normAutofit/>
          </a:bodyPr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Дизъюнкт Хорна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1066D-046C-4388-B7C4-B4439370FC8E}"/>
              </a:ext>
            </a:extLst>
          </p:cNvPr>
          <p:cNvSpPr txBox="1"/>
          <p:nvPr/>
        </p:nvSpPr>
        <p:spPr>
          <a:xfrm>
            <a:off x="1113933" y="1668430"/>
            <a:ext cx="9964131" cy="4402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Дизъюнктом Хорна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называется такой дизъюнкт, у которого k = 0 или k = 1. При k = n = 0 получается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пустой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дизъюнкт,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обозначаемый символом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Л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Среди множества всех дизъюнктов особую роль играют те, для которых k=1. Если при этом еще и n=0, то такой дизъюнкт называется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фактом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же n&gt;0, дизъюнкт называется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правилом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&lt;- B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где A -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голова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а B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-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образующие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тело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правила.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Базой знаний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будет называться всякое (непустое) множество фактов и правил.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2D149-2A3D-4A6C-88F5-CDF692935CC3}"/>
              </a:ext>
            </a:extLst>
          </p:cNvPr>
          <p:cNvSpPr txBox="1"/>
          <p:nvPr/>
        </p:nvSpPr>
        <p:spPr>
          <a:xfrm>
            <a:off x="1859438" y="686943"/>
            <a:ext cx="6094428" cy="98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1800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&lt;-B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ru-RU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			</a:t>
            </a:r>
            <a:endParaRPr lang="ru-RU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где A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,A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,...,A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,B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,B</a:t>
            </a:r>
            <a:r>
              <a:rPr lang="ru-RU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</a:t>
            </a:r>
            <a:r>
              <a:rPr lang="ru-RU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предикаты или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литеры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17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FFDC4-4F61-4667-8DB9-E03B25F6E909}"/>
              </a:ext>
            </a:extLst>
          </p:cNvPr>
          <p:cNvSpPr txBox="1"/>
          <p:nvPr/>
        </p:nvSpPr>
        <p:spPr>
          <a:xfrm>
            <a:off x="857840" y="1265415"/>
            <a:ext cx="10312923" cy="378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интерпретации множества предложений S выбирается множество объектов D, называемое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областью интерпретации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Интерпретация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множества предложений S над D состоит из следующих трех соответствий: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Каждой константе (числовой или литеральной) ставится в соответствие некоторый элемент из D.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Каждому n-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арному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функтору из S сопоставляется отображение n-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1800" baseline="30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D.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Каждому n-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арному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предикатному символу из S сопоставляется отображение n-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1800" baseline="30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множество {ИСТИНА, ЛОЖЬ}.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96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D52595-9671-438A-AF23-CCC8A1FE9AB7}"/>
              </a:ext>
            </a:extLst>
          </p:cNvPr>
          <p:cNvSpPr txBox="1"/>
          <p:nvPr/>
        </p:nvSpPr>
        <p:spPr>
          <a:xfrm>
            <a:off x="810704" y="501483"/>
            <a:ext cx="10859679" cy="4613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Дизъюнкция C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C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(C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в которой предварительно вычеркнуты литеры L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L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называется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резольвентой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Принцип резолюции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основан на том, что резольвента дизъюнктов C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C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является логическим следствием C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C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Если в результате многократного применения процесса построения резольвент получается пустой дизъюнкт, то множество дизъюнктов S противоречиво. Более того, для противоречивого множества дизъюнктов применениями процесса построения резольвент всегда можно получить пустой дизъюнкт (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Подстановка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это конечное множество вида: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(t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/v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где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переменные, 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термы.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86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1F5E59-91A3-4C83-987D-6EC93F2EAA23}"/>
              </a:ext>
            </a:extLst>
          </p:cNvPr>
          <p:cNvSpPr txBox="1"/>
          <p:nvPr/>
        </p:nvSpPr>
        <p:spPr>
          <a:xfrm>
            <a:off x="1517714" y="763571"/>
            <a:ext cx="9313683" cy="170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Унификацией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двух выражений Е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Е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 переменными v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,...,v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(или без них) называется нахождение такой подстановки (может быть и пустой), что выражения Е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Е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совпадут. Такая подстановка называется унификатором. Если оказалось, что для данных термов не существует унификатора, то термы не унифицируемы.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20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26ADE0-FDEA-431E-82C8-7342EB36DB37}"/>
              </a:ext>
            </a:extLst>
          </p:cNvPr>
          <p:cNvSpPr txBox="1"/>
          <p:nvPr/>
        </p:nvSpPr>
        <p:spPr>
          <a:xfrm>
            <a:off x="650449" y="916982"/>
            <a:ext cx="10850252" cy="378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Предикат предусматривает обратимость аргументов и полностью покрывает арифметические операции в области целых чисел, предусмотренных синтаксисом входного языка (-32767 &lt;число&gt; 32767). Следующая база знаний на языке Пролог-Д показывает, что с помощью данного предиката можно описать любые арифметические операции: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СЛОЖЕНИЕ(X,Y,Z)&lt;-УМНОЖЕНИЕ(1,X,Y,Z);</a:t>
            </a:r>
            <a:r>
              <a:rPr lang="en-US" sz="1600" dirty="0"/>
              <a:t> Z=X+Y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ВЫЧИТАНИЕ(X,Y,Z)&lt;-УМНОЖЕНИЕ(1,X,Z,Y);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УМНОЖЕНИЕ(X,Y,Z)&lt;-УМНОЖЕНИЕ(X,Y,0,Z);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ДЕЛЕНИЕ(X,Y,Z)&lt;-УМНОЖЕНИЕ(Y,Z,0,X);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00055F-9834-4599-A112-7E391770F1BA}"/>
              </a:ext>
            </a:extLst>
          </p:cNvPr>
          <p:cNvSpPr txBox="1"/>
          <p:nvPr/>
        </p:nvSpPr>
        <p:spPr>
          <a:xfrm>
            <a:off x="3048786" y="504721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>
                <a:solidFill>
                  <a:srgbClr val="FF0000"/>
                </a:solidFill>
              </a:rPr>
              <a:t>УМНОЖЕНИЕ(Арг1,Арг2,Арг3,Арг4)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AB571-B92C-477F-8357-BA6E560B9C47}"/>
              </a:ext>
            </a:extLst>
          </p:cNvPr>
          <p:cNvSpPr txBox="1"/>
          <p:nvPr/>
        </p:nvSpPr>
        <p:spPr>
          <a:xfrm>
            <a:off x="3048786" y="5416542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предусматривает реализацию формулы: </a:t>
            </a:r>
            <a:r>
              <a:rPr lang="ru-RU" dirty="0">
                <a:solidFill>
                  <a:srgbClr val="FF0000"/>
                </a:solidFill>
              </a:rPr>
              <a:t>Арг1*Арг2+Арг3=Арг4</a:t>
            </a:r>
          </a:p>
        </p:txBody>
      </p:sp>
    </p:spTree>
    <p:extLst>
      <p:ext uri="{BB962C8B-B14F-4D97-AF65-F5344CB8AC3E}">
        <p14:creationId xmlns:p14="http://schemas.microsoft.com/office/powerpoint/2010/main" val="2532179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C9967-42CA-418A-9A75-8EF77F95ECD5}"/>
              </a:ext>
            </a:extLst>
          </p:cNvPr>
          <p:cNvSpPr txBox="1"/>
          <p:nvPr/>
        </p:nvSpPr>
        <p:spPr>
          <a:xfrm>
            <a:off x="1029879" y="74858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БОЛЬШЕ(Арг1,Арг2)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1C77B-27BE-4BFA-85F1-2C5028974230}"/>
              </a:ext>
            </a:extLst>
          </p:cNvPr>
          <p:cNvSpPr txBox="1"/>
          <p:nvPr/>
        </p:nvSpPr>
        <p:spPr>
          <a:xfrm>
            <a:off x="1029879" y="11179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Предикат выполнен, если Арг1 &gt; Арг2, иначе - не выполнен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CAB6D-5774-4540-BBA2-044E23BD46E6}"/>
              </a:ext>
            </a:extLst>
          </p:cNvPr>
          <p:cNvSpPr txBox="1"/>
          <p:nvPr/>
        </p:nvSpPr>
        <p:spPr>
          <a:xfrm>
            <a:off x="1029879" y="1750730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РАВНО(X,X); </a:t>
            </a:r>
            <a:endParaRPr lang="en-US" dirty="0"/>
          </a:p>
          <a:p>
            <a:r>
              <a:rPr lang="ru-RU" dirty="0"/>
              <a:t>МЕНЬШЕ(X,Y)&lt;-БОЛЬШЕ(Y,X);</a:t>
            </a:r>
            <a:endParaRPr lang="en-US" dirty="0"/>
          </a:p>
          <a:p>
            <a:r>
              <a:rPr lang="ru-RU" dirty="0"/>
              <a:t>МИР(X,Y)&lt;-НЕ(БОЛЬШЕ(X,Y);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6196E-4DA0-4D85-94DB-B8877B48DA7A}"/>
              </a:ext>
            </a:extLst>
          </p:cNvPr>
          <p:cNvSpPr txBox="1"/>
          <p:nvPr/>
        </p:nvSpPr>
        <p:spPr>
          <a:xfrm>
            <a:off x="4077093" y="230472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НЕ(Арг1)</a:t>
            </a:r>
          </a:p>
        </p:txBody>
      </p:sp>
    </p:spTree>
    <p:extLst>
      <p:ext uri="{BB962C8B-B14F-4D97-AF65-F5344CB8AC3E}">
        <p14:creationId xmlns:p14="http://schemas.microsoft.com/office/powerpoint/2010/main" val="321442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CEA538-F860-4558-BBAB-DDEDA2200BD9}"/>
              </a:ext>
            </a:extLst>
          </p:cNvPr>
          <p:cNvSpPr txBox="1"/>
          <p:nvPr/>
        </p:nvSpPr>
        <p:spPr>
          <a:xfrm>
            <a:off x="1545996" y="556181"/>
            <a:ext cx="84181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Рекурсия.</a:t>
            </a:r>
            <a:r>
              <a:rPr lang="ru-RU" dirty="0"/>
              <a:t> Существует огромное количество задач, в которых отношения между объектами можно определить, только используя сами определяемые соотношения.</a:t>
            </a:r>
            <a:endParaRPr lang="en-US" dirty="0"/>
          </a:p>
          <a:p>
            <a:r>
              <a:rPr lang="ru-RU" dirty="0"/>
              <a:t>При этом получаются правила, называемые рекурсивными. Этот принцип состоит в том, чтобы разбить задачу на случаи, относящиеся к двум группам: </a:t>
            </a:r>
            <a:endParaRPr lang="en-US" dirty="0"/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ru-RU" dirty="0"/>
              <a:t>тривиальные, или «граничные» случаи; </a:t>
            </a: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  <a:p>
            <a:r>
              <a:rPr lang="ru-RU" dirty="0"/>
              <a:t>2) «общие» случаи, в которых решение получается из решений для (более простых) вариантов самой исходной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182264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B3E05B-35E1-47E4-8E00-71B94816DA00}"/>
              </a:ext>
            </a:extLst>
          </p:cNvPr>
          <p:cNvSpPr txBox="1"/>
          <p:nvPr/>
        </p:nvSpPr>
        <p:spPr>
          <a:xfrm>
            <a:off x="794994" y="207389"/>
            <a:ext cx="11397006" cy="4494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Наилучшим образом Пролог показал себя в следующих областях применения:</a:t>
            </a:r>
            <a:endParaRPr lang="ru-RU" sz="1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быстрая разработка прототипов прикладных программ;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автоматический перевод с одного языка на другой;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создание естественно-языковых интерфейсов для существующих систем;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символьные вычисления для решения уравнений, дифференцирования и интегрирования;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проектирование динамических реляционных баз данных;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экспертные системы и оболочки экспертных систем;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автоматизированное управление производственными процессами;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автоматическое доказательство теорем;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полуавтоматическое составление расписаний;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системы автоматизированного проектирования;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базирующееся на знаниях программное обеспечение; 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организация сервера данных или, точнее, сервера знаний, к которому может обращаться клиентское приложение, написанное на каком-либо языке программирования.</a:t>
            </a:r>
            <a:endParaRPr lang="ru-RU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2984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1387</Words>
  <Application>Microsoft Office PowerPoint</Application>
  <PresentationFormat>Широкоэкранный</PresentationFormat>
  <Paragraphs>142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DefaultFont</vt:lpstr>
      <vt:lpstr>Symbol</vt:lpstr>
      <vt:lpstr>Times New Roman</vt:lpstr>
      <vt:lpstr>Verdana</vt:lpstr>
      <vt:lpstr>Тема Office</vt:lpstr>
      <vt:lpstr>ЛЕКЦИЯ №4</vt:lpstr>
      <vt:lpstr>Язык программирования PROLOG</vt:lpstr>
      <vt:lpstr>Особенности синтаксиса яп Пролог</vt:lpstr>
      <vt:lpstr>Особенности Пролога</vt:lpstr>
      <vt:lpstr>Дизъюнкт Хорна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№4</dc:title>
  <dc:creator/>
  <cp:lastModifiedBy/>
  <cp:revision>16</cp:revision>
  <dcterms:created xsi:type="dcterms:W3CDTF">2021-03-21T16:30:27Z</dcterms:created>
  <dcterms:modified xsi:type="dcterms:W3CDTF">2021-03-22T09:29:11Z</dcterms:modified>
</cp:coreProperties>
</file>